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Montserra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971416-42D1-4412-B253-2766C2BD549C}">
  <a:tblStyle styleId="{26971416-42D1-4412-B253-2766C2BD549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A102B6E-DDDC-4D8A-BC66-E00E17C231B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Montserrat-bold.fntdata"/><Relationship Id="rId12" Type="http://schemas.openxmlformats.org/officeDocument/2006/relationships/slide" Target="slides/slide6.xml"/><Relationship Id="rId34" Type="http://schemas.openxmlformats.org/officeDocument/2006/relationships/font" Target="fonts/Montserrat-regular.fntdata"/><Relationship Id="rId15" Type="http://schemas.openxmlformats.org/officeDocument/2006/relationships/slide" Target="slides/slide9.xml"/><Relationship Id="rId37" Type="http://schemas.openxmlformats.org/officeDocument/2006/relationships/font" Target="fonts/Montserrat-bold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62579cae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62579cae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62579cae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62579cae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62579cae0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62579cae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62579cae0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62579cae0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62579cae0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62579cae0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9a33140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d9a33140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62579cae0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62579cae0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e62579cae0_1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e62579cae0_1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62579cae0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62579cae0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9a331407b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g3d9a331407b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e62579cae0_1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e62579cae0_1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e62579cae0_1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e62579cae0_1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e62579cae0_1_4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e62579cae0_1_4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e62579cae0_1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e62579cae0_1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62579cae0_1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e62579cae0_1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e62579cae0_1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e62579cae0_1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e62579cae0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3e62579cae0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62579cae0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e62579cae0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e62579cae0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e62579cae0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e62579cae0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e62579cae0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d9a331407b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" name="Google Shape;445;g3d9a331407b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e62579cae0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e62579cae0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e62579cae0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e62579cae0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e62579cae0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e62579cae0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e62579cae0_2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9" name="Google Shape;579;g3e62579cae0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d9a331407b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d9a331407b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d9a331407b_0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d9a331407b_0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slide" Target="/ppt/slides/slide2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slide" Target="/ppt/slides/slide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slide" Target="/ppt/slides/slide5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slide" Target="/ppt/slides/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457200" y="1771650"/>
            <a:ext cx="73200" cy="1097400"/>
          </a:xfrm>
          <a:prstGeom prst="rect">
            <a:avLst/>
          </a:prstGeom>
          <a:solidFill>
            <a:srgbClr val="E8743B"/>
          </a:solidFill>
          <a:ln cap="flat" cmpd="sng" w="12700">
            <a:solidFill>
              <a:srgbClr val="E8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>
            <a:off x="685800" y="158877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600"/>
              <a:buFont typeface="Calibri"/>
              <a:buNone/>
            </a:pPr>
            <a:r>
              <a:rPr b="1" i="0" lang="en" sz="1600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PREDICTING THE NEXT</a:t>
            </a:r>
            <a:endParaRPr i="0" sz="1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685800" y="196832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" sz="4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Construction Boom</a:t>
            </a:r>
            <a:endParaRPr i="0" sz="4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685800" y="277749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600"/>
              <a:buFont typeface="Calibri"/>
              <a:buNone/>
            </a:pPr>
            <a:r>
              <a:rPr i="1" lang="en" sz="13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Forecasting sector</a:t>
            </a:r>
            <a:r>
              <a:rPr i="1" lang="en" sz="1300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en" sz="13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level labor demand for Lithko Contracting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9" name="Google Shape;59;p14"/>
          <p:cNvCxnSpPr/>
          <p:nvPr/>
        </p:nvCxnSpPr>
        <p:spPr>
          <a:xfrm>
            <a:off x="685800" y="3383280"/>
            <a:ext cx="2286000" cy="0"/>
          </a:xfrm>
          <a:prstGeom prst="straightConnector1">
            <a:avLst/>
          </a:prstGeom>
          <a:noFill/>
          <a:ln cap="flat" cmpd="sng" w="15225">
            <a:solidFill>
              <a:srgbClr val="E874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14"/>
          <p:cNvSpPr/>
          <p:nvPr/>
        </p:nvSpPr>
        <p:spPr>
          <a:xfrm>
            <a:off x="685800" y="356616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UD   •   Bhu</a:t>
            </a:r>
            <a:r>
              <a:rPr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</a:t>
            </a:r>
            <a:r>
              <a:rPr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aneshwar </a:t>
            </a:r>
            <a:r>
              <a:rPr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Sanappareddy</a:t>
            </a:r>
            <a:r>
              <a:rPr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· Nagesh Pentakota · Sai Ram </a:t>
            </a:r>
            <a:r>
              <a:rPr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Jella</a:t>
            </a:r>
            <a:r>
              <a:rPr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· Gemechu Tola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685800" y="388620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Advisor: Professor M Gorman   •   University of </a:t>
            </a:r>
            <a:r>
              <a:rPr lang="en" sz="1100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Dayton </a:t>
            </a:r>
            <a:r>
              <a:rPr i="0" lang="en" sz="11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MBAN   •   April 2026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50" y="4583950"/>
            <a:ext cx="1407125" cy="51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1369" y="40625"/>
            <a:ext cx="1365606" cy="5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457200" y="1938528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sectors analyzed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2587752" y="1280160"/>
            <a:ext cx="201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4Q</a:t>
            </a:r>
            <a:r>
              <a:rPr b="1" lang="en" sz="3000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i="0" lang="en" sz="3000" u="none" cap="none" strike="noStrike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6Q</a:t>
            </a:r>
            <a:endParaRPr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587752" y="1938528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forecasting horizons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4718304" y="1280160"/>
            <a:ext cx="201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120+</a:t>
            </a:r>
            <a:endParaRPr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4718304" y="1938528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models trained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6848856" y="1280160"/>
            <a:ext cx="2011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4 of 5</a:t>
            </a:r>
            <a:endParaRPr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6848856" y="1938528"/>
            <a:ext cx="201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sectors actionable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75" name="Google Shape;75;p15"/>
          <p:cNvGraphicFramePr/>
          <p:nvPr/>
        </p:nvGraphicFramePr>
        <p:xfrm>
          <a:off x="457200" y="2468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{26971416-42D1-4412-B253-2766C2BD549C}</a:tableStyleId>
              </a:tblPr>
              <a:tblGrid>
                <a:gridCol w="1463050"/>
                <a:gridCol w="1897350"/>
                <a:gridCol w="1943125"/>
                <a:gridCol w="1463050"/>
                <a:gridCol w="1463050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Sector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Best Horizon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Indicator(s)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Lift vs Baseline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MAPE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 Center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5Q ahead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All indicators (Full spec)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7D3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D7D3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80.1%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7.5%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Warehouse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6Q ahead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All indicators (Full spec)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7D3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D7D3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39.7%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21.2%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Apartment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4Q ahead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undcon5musa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7D3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D7D3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23.7%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9.7%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Office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02F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>
                          <a:solidFill>
                            <a:srgbClr val="C4402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r>
                        <a:rPr i="1" lang="en" sz="1100" u="none" cap="none" strike="noStrike">
                          <a:solidFill>
                            <a:srgbClr val="C4402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no actionable signal </a:t>
                      </a:r>
                      <a:r>
                        <a:rPr i="1" lang="en" sz="1100">
                          <a:solidFill>
                            <a:srgbClr val="C4402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&gt;30%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Manufacturing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5Q ahead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PNFI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7D3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D7D3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83.8%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5.1%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" name="Google Shape;76;p15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Four of five sectors show actionable forecasting horizons of 4Q–6Q ahead</a:t>
            </a:r>
            <a:endParaRPr b="1" sz="18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849990" y="1367160"/>
            <a:ext cx="12261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3000"/>
              <a:buFont typeface="Calibri"/>
              <a:buNone/>
            </a:pPr>
            <a:r>
              <a:rPr b="1" lang="en" sz="3000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i="0" sz="3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548640" y="1371600"/>
            <a:ext cx="502800" cy="347400"/>
          </a:xfrm>
          <a:prstGeom prst="rect">
            <a:avLst/>
          </a:prstGeom>
          <a:solidFill>
            <a:srgbClr val="0B5394"/>
          </a:solidFill>
          <a:ln cap="flat" cmpd="sng" w="12700">
            <a:solidFill>
              <a:srgbClr val="1A2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548640" y="1371600"/>
            <a:ext cx="502800" cy="3474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i="0" sz="1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234440" y="1371600"/>
            <a:ext cx="292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1" lang="en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Project Objective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160520" y="1371600"/>
            <a:ext cx="452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Business Problem &amp; Objective.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548640" y="1810512"/>
            <a:ext cx="502800" cy="347400"/>
          </a:xfrm>
          <a:prstGeom prst="rect">
            <a:avLst/>
          </a:prstGeom>
          <a:solidFill>
            <a:srgbClr val="0B5394"/>
          </a:solidFill>
          <a:ln cap="flat" cmpd="sng" w="12700">
            <a:solidFill>
              <a:srgbClr val="1A2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548640" y="1810512"/>
            <a:ext cx="502800" cy="3474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i="0" sz="1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1234440" y="1810512"/>
            <a:ext cx="292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Approach &amp; Methodology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4160520" y="1810512"/>
            <a:ext cx="452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Data, models, validation, and the selection rule.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48640" y="2249424"/>
            <a:ext cx="502800" cy="347400"/>
          </a:xfrm>
          <a:prstGeom prst="rect">
            <a:avLst/>
          </a:prstGeom>
          <a:solidFill>
            <a:srgbClr val="0B5394"/>
          </a:solidFill>
          <a:ln cap="flat" cmpd="sng" w="12700">
            <a:solidFill>
              <a:srgbClr val="1A2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548640" y="2249424"/>
            <a:ext cx="502800" cy="3474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i="0" sz="1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1234440" y="2249424"/>
            <a:ext cx="292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Sector Results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4160520" y="2249424"/>
            <a:ext cx="452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Data Center · Warehouse · Apartment · Office · Manufacturing.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548640" y="2688336"/>
            <a:ext cx="502800" cy="347400"/>
          </a:xfrm>
          <a:prstGeom prst="rect">
            <a:avLst/>
          </a:prstGeom>
          <a:solidFill>
            <a:srgbClr val="0B5394"/>
          </a:solidFill>
          <a:ln cap="flat" cmpd="sng" w="12700">
            <a:solidFill>
              <a:srgbClr val="1A2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548640" y="2688336"/>
            <a:ext cx="502800" cy="3474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i="0" sz="1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234440" y="2688336"/>
            <a:ext cx="292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Cross-Sector Synthesis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4160520" y="2688336"/>
            <a:ext cx="452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The one-page story and indicator mapping.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548640" y="3127248"/>
            <a:ext cx="502800" cy="347400"/>
          </a:xfrm>
          <a:prstGeom prst="rect">
            <a:avLst/>
          </a:prstGeom>
          <a:solidFill>
            <a:srgbClr val="0B5394"/>
          </a:solidFill>
          <a:ln cap="flat" cmpd="sng" w="12700">
            <a:solidFill>
              <a:srgbClr val="1A2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48640" y="3127248"/>
            <a:ext cx="502800" cy="3474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i="0" sz="1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234440" y="3127248"/>
            <a:ext cx="292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1" lang="en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Roadmap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4160520" y="3127248"/>
            <a:ext cx="452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lang="en" sz="12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Solution Implementation. 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548640" y="3566160"/>
            <a:ext cx="502800" cy="347400"/>
          </a:xfrm>
          <a:prstGeom prst="rect">
            <a:avLst/>
          </a:prstGeom>
          <a:solidFill>
            <a:srgbClr val="0B5394"/>
          </a:solidFill>
          <a:ln cap="flat" cmpd="sng" w="12700">
            <a:solidFill>
              <a:srgbClr val="1A2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6"/>
          <p:cNvSpPr/>
          <p:nvPr/>
        </p:nvSpPr>
        <p:spPr>
          <a:xfrm>
            <a:off x="548640" y="3566160"/>
            <a:ext cx="502800" cy="3474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i="0" sz="1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1234440" y="3566160"/>
            <a:ext cx="292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Limitations &amp; Next Steps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160520" y="3566160"/>
            <a:ext cx="452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What we can and cannot claim.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548640" y="4005072"/>
            <a:ext cx="502800" cy="347400"/>
          </a:xfrm>
          <a:prstGeom prst="rect">
            <a:avLst/>
          </a:prstGeom>
          <a:solidFill>
            <a:srgbClr val="0B5394"/>
          </a:solidFill>
          <a:ln cap="flat" cmpd="sng" w="12700">
            <a:solidFill>
              <a:srgbClr val="1A2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548640" y="4005072"/>
            <a:ext cx="502800" cy="3474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  <a:endParaRPr i="0" sz="13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1234440" y="4005072"/>
            <a:ext cx="29262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Q&amp;A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4160520" y="4005072"/>
            <a:ext cx="4526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i="0" lang="en" sz="12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Your questions.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Agenda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this presentation flows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457200" y="937250"/>
            <a:ext cx="4240500" cy="3966300"/>
          </a:xfrm>
          <a:prstGeom prst="rect">
            <a:avLst/>
          </a:prstGeom>
          <a:solidFill>
            <a:srgbClr val="F1F4F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57200" y="937250"/>
            <a:ext cx="73200" cy="3966300"/>
          </a:xfrm>
          <a:prstGeom prst="rect">
            <a:avLst/>
          </a:prstGeom>
          <a:solidFill>
            <a:srgbClr val="E8743B"/>
          </a:solidFill>
          <a:ln cap="flat" cmpd="sng" w="12700">
            <a:solidFill>
              <a:srgbClr val="E8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685800" y="1080174"/>
            <a:ext cx="3657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BUSINESS PROBLEM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685800" y="1493685"/>
            <a:ext cx="3931800" cy="14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500"/>
              <a:buFont typeface="Calibri"/>
              <a:buNone/>
            </a:pPr>
            <a:r>
              <a:rPr lang="en" sz="12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Lithko operates in a market where demand shifts across project types, such as warehouses during COVID, data centers today. Historically, these shifts have been identified after demand has already materialized.</a:t>
            </a:r>
            <a:endParaRPr sz="12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500"/>
              <a:buFont typeface="Calibri"/>
              <a:buNone/>
            </a:pPr>
            <a:r>
              <a:rPr lang="en" sz="12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While Lithko has strong internal data, there is an opportunity to leverage external economic indicators to identify these shifts earlier and improve forward-looking planning.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85800" y="3402746"/>
            <a:ext cx="3931800" cy="14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1100"/>
              <a:buFont typeface="Montserrat"/>
              <a:buChar char="●"/>
            </a:pPr>
            <a:r>
              <a:rPr lang="en" sz="12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Identify early signals that indicate when a new project type is beginning to grow.</a:t>
            </a:r>
            <a:endParaRPr sz="12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1100"/>
              <a:buFont typeface="Montserrat"/>
              <a:buChar char="●"/>
            </a:pPr>
            <a:r>
              <a:rPr lang="en" sz="12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Evaluate whether combining internal activity with external indicators improves early-signal detection.</a:t>
            </a:r>
            <a:endParaRPr sz="12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1100"/>
              <a:buFont typeface="Montserrat"/>
              <a:buChar char="●"/>
            </a:pPr>
            <a:r>
              <a:rPr lang="en" sz="12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Deliver a directional forecasting framework to support proactive planning.</a:t>
            </a:r>
            <a:endParaRPr i="1" sz="1100">
              <a:solidFill>
                <a:srgbClr val="2C5F7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 Objective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business problem we’re solving and what success looks like.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4960620" y="1423628"/>
            <a:ext cx="3952375" cy="3028822"/>
            <a:chOff x="4960620" y="1314450"/>
            <a:chExt cx="3952375" cy="3028822"/>
          </a:xfrm>
        </p:grpSpPr>
        <p:sp>
          <p:nvSpPr>
            <p:cNvPr id="122" name="Google Shape;122;p17"/>
            <p:cNvSpPr/>
            <p:nvPr/>
          </p:nvSpPr>
          <p:spPr>
            <a:xfrm>
              <a:off x="4960620" y="1314450"/>
              <a:ext cx="39318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C5F7A"/>
                </a:buClr>
                <a:buSzPts val="2000"/>
                <a:buFont typeface="Calibri"/>
                <a:buNone/>
              </a:pPr>
              <a:r>
                <a:rPr b="1" i="0" lang="en" sz="1900" u="none" cap="none" strike="noStrike">
                  <a:solidFill>
                    <a:srgbClr val="2C5F7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2019–2025</a:t>
              </a:r>
              <a:endParaRPr i="0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3" name="Google Shape;123;p17"/>
            <p:cNvSpPr/>
            <p:nvPr/>
          </p:nvSpPr>
          <p:spPr>
            <a:xfrm>
              <a:off x="4960620" y="1693910"/>
              <a:ext cx="39318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100"/>
                <a:buFont typeface="Calibri"/>
                <a:buNone/>
              </a:pPr>
              <a:r>
                <a:rPr i="0" lang="en" sz="1000" u="none" cap="none" strike="noStrike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Six years of Lithko labor-hour history.</a:t>
              </a:r>
              <a:endParaRPr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4" name="Google Shape;124;p17"/>
            <p:cNvSpPr/>
            <p:nvPr/>
          </p:nvSpPr>
          <p:spPr>
            <a:xfrm>
              <a:off x="4981195" y="2091678"/>
              <a:ext cx="39318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C5F7A"/>
                </a:buClr>
                <a:buSzPts val="2000"/>
                <a:buFont typeface="Calibri"/>
                <a:buNone/>
              </a:pPr>
              <a:r>
                <a:rPr b="1" i="0" lang="en" sz="1900" u="none" cap="none" strike="noStrike">
                  <a:solidFill>
                    <a:srgbClr val="2C5F7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 sectors</a:t>
              </a:r>
              <a:endParaRPr i="0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5" name="Google Shape;125;p17"/>
            <p:cNvSpPr/>
            <p:nvPr/>
          </p:nvSpPr>
          <p:spPr>
            <a:xfrm>
              <a:off x="4960620" y="2439162"/>
              <a:ext cx="39318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100"/>
                <a:buFont typeface="Calibri"/>
                <a:buNone/>
              </a:pPr>
              <a:r>
                <a:rPr i="0" lang="en" sz="1000" u="none" cap="none" strike="noStrike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Data Center, Warehouse, Apartment, Office, Manufacturing.</a:t>
              </a:r>
              <a:endParaRPr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6" name="Google Shape;126;p17"/>
            <p:cNvSpPr/>
            <p:nvPr/>
          </p:nvSpPr>
          <p:spPr>
            <a:xfrm>
              <a:off x="4960620" y="2868930"/>
              <a:ext cx="39318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C5F7A"/>
                </a:buClr>
                <a:buSzPts val="2000"/>
                <a:buFont typeface="Calibri"/>
                <a:buNone/>
              </a:pPr>
              <a:r>
                <a:rPr b="1" i="0" lang="en" sz="1900" u="none" cap="none" strike="noStrike">
                  <a:solidFill>
                    <a:srgbClr val="2C5F7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~20 indicators</a:t>
              </a:r>
              <a:endParaRPr i="0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4960620" y="3216402"/>
              <a:ext cx="39318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100"/>
                <a:buFont typeface="Calibri"/>
                <a:buNone/>
              </a:pPr>
              <a:r>
                <a:rPr i="0" lang="en" sz="1000" u="none" cap="none" strike="noStrike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Public economic series from FRED and Census.</a:t>
              </a:r>
              <a:endParaRPr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4960620" y="3646170"/>
              <a:ext cx="3931800" cy="34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2C5F7A"/>
                </a:buClr>
                <a:buSzPts val="2000"/>
                <a:buFont typeface="Calibri"/>
                <a:buNone/>
              </a:pPr>
              <a:r>
                <a:rPr b="1" i="0" lang="en" sz="1900" u="none" cap="none" strike="noStrike">
                  <a:solidFill>
                    <a:srgbClr val="2C5F7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≥ 3 quarters</a:t>
              </a:r>
              <a:endParaRPr i="0" sz="19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9" name="Google Shape;129;p17"/>
            <p:cNvSpPr/>
            <p:nvPr/>
          </p:nvSpPr>
          <p:spPr>
            <a:xfrm>
              <a:off x="4960620" y="3977572"/>
              <a:ext cx="39318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64748B"/>
                </a:buClr>
                <a:buSzPts val="1100"/>
                <a:buFont typeface="Calibri"/>
                <a:buNone/>
              </a:pPr>
              <a:r>
                <a:rPr lang="en" sz="1000">
                  <a:solidFill>
                    <a:srgbClr val="64748B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Minimum actionable horizon for Lithko’s 2Q mobilization.</a:t>
              </a:r>
              <a:endParaRPr i="0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130" name="Google Shape;130;p17"/>
          <p:cNvSpPr/>
          <p:nvPr/>
        </p:nvSpPr>
        <p:spPr>
          <a:xfrm>
            <a:off x="685790" y="3109813"/>
            <a:ext cx="36576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OBJECTIVE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/>
          <p:nvPr/>
        </p:nvSpPr>
        <p:spPr>
          <a:xfrm>
            <a:off x="457200" y="1371600"/>
            <a:ext cx="3931800" cy="3108900"/>
          </a:xfrm>
          <a:prstGeom prst="rect">
            <a:avLst/>
          </a:prstGeom>
          <a:solidFill>
            <a:srgbClr val="FFF4E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594348" y="1508750"/>
            <a:ext cx="1965900" cy="274200"/>
          </a:xfrm>
          <a:prstGeom prst="roundRect">
            <a:avLst>
              <a:gd fmla="val 20000" name="adj"/>
            </a:avLst>
          </a:prstGeom>
          <a:solidFill>
            <a:srgbClr val="E8743B"/>
          </a:solidFill>
          <a:ln cap="flat" cmpd="sng" w="12700">
            <a:solidFill>
              <a:srgbClr val="E8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LITHKO INTERNAL</a:t>
            </a:r>
            <a:endParaRPr b="1"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594350" y="182880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1" lang="en" sz="10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Source: Lithko databases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685800" y="2194560"/>
            <a:ext cx="36576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365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Montserrat"/>
              <a:buChar char="●"/>
            </a:pP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Jobs, labor hours, customers, business units, regions.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Montserrat"/>
              <a:buChar char="●"/>
            </a:pP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True start dates built from first logged labor hour.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Montserrat"/>
              <a:buChar char="●"/>
            </a:pP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Aggregated to quarterly cadence (2019 Q1 – 2025).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365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Montserrat"/>
              <a:buChar char="●"/>
            </a:pP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Incomplete final quarter removed to avoid bias.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4754880" y="1371600"/>
            <a:ext cx="3931800" cy="3108900"/>
          </a:xfrm>
          <a:prstGeom prst="rect">
            <a:avLst/>
          </a:prstGeom>
          <a:solidFill>
            <a:srgbClr val="F1F4F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4892050" y="1508750"/>
            <a:ext cx="1965900" cy="274200"/>
          </a:xfrm>
          <a:prstGeom prst="roundRect">
            <a:avLst>
              <a:gd fmla="val 20000" name="adj"/>
            </a:avLst>
          </a:prstGeom>
          <a:solidFill>
            <a:srgbClr val="2C5F7A"/>
          </a:solidFill>
          <a:ln cap="flat" cmpd="sng" w="12700">
            <a:solidFill>
              <a:srgbClr val="2C5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4892050" y="1508750"/>
            <a:ext cx="196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EXTERNAL INDICATORS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4892045" y="1828800"/>
            <a:ext cx="365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1" lang="en" sz="10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FRED, U.S. Census Bureau · Monthly series → quarterly via mean of 3 months</a:t>
            </a:r>
            <a:endParaRPr b="1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4983480" y="2194560"/>
            <a:ext cx="36576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Montserrat"/>
              <a:buChar char="●"/>
            </a:pPr>
            <a:r>
              <a:rPr b="1"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Data Center: 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DC capex, PCE deflator, TCU, utility production.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Montserrat"/>
              <a:buChar char="●"/>
            </a:pPr>
            <a:r>
              <a:rPr b="1"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Warehouse: 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e-commerce sales, PNFI, T</a:t>
            </a:r>
            <a:r>
              <a:rPr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LNRCONS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,INDPRO,</a:t>
            </a:r>
            <a:r>
              <a:rPr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Interest rate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Montserrat"/>
              <a:buChar char="●"/>
            </a:pPr>
            <a:r>
              <a:rPr b="1"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Apartment: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PERMIT5,DGS10,UNDCON5MUSA.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Montserrat"/>
              <a:buChar char="●"/>
            </a:pPr>
            <a:r>
              <a:rPr b="1"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Office: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USPBS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TLRESCONS 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,</a:t>
            </a:r>
            <a:r>
              <a:rPr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DGS10 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PNFI.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Montserrat"/>
              <a:buChar char="●"/>
            </a:pPr>
            <a:r>
              <a:rPr b="1"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Manufacturing: 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PNFI, </a:t>
            </a:r>
            <a:r>
              <a:rPr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TCU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DGS10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, industrial production.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Foundation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this presentation flows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6656275" y="4593125"/>
            <a:ext cx="203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action="ppaction://hlinksldjump" r:id="rId3"/>
              </a:rPr>
              <a:t>Indicators Detailed Explanation</a:t>
            </a:r>
            <a:endParaRPr i="1"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&amp; Limitations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Honest acknowledgment of the degrees-of-freedom constraint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457200" y="953355"/>
            <a:ext cx="2011800" cy="10974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457200" y="1026507"/>
            <a:ext cx="2011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28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457200" y="1501995"/>
            <a:ext cx="20118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quarters of data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>
            <a:off x="457200" y="1776315"/>
            <a:ext cx="20118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 u="none" cap="none" strike="noStrike">
                <a:solidFill>
                  <a:srgbClr val="555C6F"/>
                </a:solidFill>
                <a:latin typeface="Montserrat"/>
                <a:ea typeface="Montserrat"/>
                <a:cs typeface="Montserrat"/>
                <a:sym typeface="Montserrat"/>
              </a:rPr>
              <a:t>2019 Q1 – 2025 Q4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2560320" y="953355"/>
            <a:ext cx="2011800" cy="10974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2560320" y="1026507"/>
            <a:ext cx="2011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~22</a:t>
            </a:r>
            <a:r>
              <a:rPr b="1" lang="en" sz="2800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i="0" lang="en" sz="2800" u="none" cap="none" strike="noStrike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27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2560320" y="1501995"/>
            <a:ext cx="20118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training obs (after lag-h)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2560320" y="1776315"/>
            <a:ext cx="20118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 u="none" cap="none" strike="noStrike">
                <a:solidFill>
                  <a:srgbClr val="555C6F"/>
                </a:solidFill>
                <a:latin typeface="Montserrat"/>
                <a:ea typeface="Montserrat"/>
                <a:cs typeface="Montserrat"/>
                <a:sym typeface="Montserrat"/>
              </a:rPr>
              <a:t>shrinks at longer horizons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4663440" y="953355"/>
            <a:ext cx="2011800" cy="10974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4663440" y="1026507"/>
            <a:ext cx="2011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4663440" y="1501995"/>
            <a:ext cx="20118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test obs per horizon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4663440" y="1776315"/>
            <a:ext cx="20118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 u="none" cap="none" strike="noStrike">
                <a:solidFill>
                  <a:srgbClr val="555C6F"/>
                </a:solidFill>
                <a:latin typeface="Montserrat"/>
                <a:ea typeface="Montserrat"/>
                <a:cs typeface="Montserrat"/>
                <a:sym typeface="Montserrat"/>
              </a:rPr>
              <a:t>held-out 2025 Q1</a:t>
            </a:r>
            <a:r>
              <a:rPr i="1" lang="en" sz="800">
                <a:solidFill>
                  <a:srgbClr val="555C6F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i="1" lang="en" sz="800" u="none" cap="none" strike="noStrike">
                <a:solidFill>
                  <a:srgbClr val="555C6F"/>
                </a:solidFill>
                <a:latin typeface="Montserrat"/>
                <a:ea typeface="Montserrat"/>
                <a:cs typeface="Montserrat"/>
                <a:sym typeface="Montserrat"/>
              </a:rPr>
              <a:t>Q4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6766560" y="953355"/>
            <a:ext cx="2011800" cy="10974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>
            <a:off x="6766560" y="1026507"/>
            <a:ext cx="20118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 u="none" cap="none" strike="noStrike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1" lang="en" sz="2800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i="0" lang="en" sz="2800" u="none" cap="none" strike="noStrike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>
            <a:off x="6766560" y="1501995"/>
            <a:ext cx="20118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parameters per spec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6766560" y="1776315"/>
            <a:ext cx="20118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 u="none" cap="none" strike="noStrike">
                <a:solidFill>
                  <a:srgbClr val="555C6F"/>
                </a:solidFill>
                <a:latin typeface="Montserrat"/>
                <a:ea typeface="Montserrat"/>
                <a:cs typeface="Montserrat"/>
                <a:sym typeface="Montserrat"/>
              </a:rPr>
              <a:t>intercept + lag + indicator + COVID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457200" y="2279235"/>
            <a:ext cx="4114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THE CONSTRAINT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457200" y="2553555"/>
            <a:ext cx="4114800" cy="8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With a short series and 4</a:t>
            </a:r>
            <a:r>
              <a:rPr lang="en" sz="1100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i="0" lang="en" sz="11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7 regressors, augmented specs at long horizons reach ~3</a:t>
            </a:r>
            <a:r>
              <a:rPr lang="en" sz="1100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i="0" lang="en" sz="11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6 obs per parameter. Reported in-sample R² should not be read as out-of-sample skill. Out-of-sample skill is the 4</a:t>
            </a:r>
            <a:r>
              <a:rPr lang="en" sz="1100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i="0" lang="en" sz="11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quarter MAPE on held-out 2025.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4754880" y="2279235"/>
            <a:ext cx="3931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HOW WE MITIGATE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4708975" y="2553565"/>
            <a:ext cx="40236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640"/>
              </a:buClr>
              <a:buSzPts val="1100"/>
              <a:buFont typeface="Montserrat"/>
              <a:buChar char="●"/>
            </a:pPr>
            <a:r>
              <a:rPr i="0" lang="en" sz="11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Parsimonious presented specs (labor lag + 1 indicator + COVID)</a:t>
            </a:r>
            <a:r>
              <a:rPr lang="en" sz="1100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100">
              <a:solidFill>
                <a:srgbClr val="3336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640"/>
              </a:buClr>
              <a:buSzPts val="1100"/>
              <a:buFont typeface="Montserrat"/>
              <a:buChar char="●"/>
            </a:pPr>
            <a:r>
              <a:rPr i="0" lang="en" sz="11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Out-of-sample MAPE is the headline metric, not in-sample fit.</a:t>
            </a:r>
            <a:endParaRPr sz="1100">
              <a:solidFill>
                <a:srgbClr val="3336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640"/>
              </a:buClr>
              <a:buSzPts val="1100"/>
              <a:buFont typeface="Montserrat"/>
              <a:buChar char="●"/>
            </a:pPr>
            <a:r>
              <a:rPr i="0" lang="en" sz="11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Pre-specified MAPE ≤ 30% threshold rejects overfit specifications.</a:t>
            </a:r>
            <a:endParaRPr sz="1100">
              <a:solidFill>
                <a:srgbClr val="3336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640"/>
              </a:buClr>
              <a:buSzPts val="1100"/>
              <a:buFont typeface="Montserrat"/>
              <a:buChar char="●"/>
            </a:pPr>
            <a:r>
              <a:rPr i="0" lang="en" sz="11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Office reported as </a:t>
            </a:r>
            <a:r>
              <a:rPr b="1" i="0" lang="en" sz="11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'no actionable signal'</a:t>
            </a:r>
            <a:r>
              <a:rPr i="0" lang="en" sz="11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 rather than cherry-picking.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457200" y="4252099"/>
            <a:ext cx="8229600" cy="457200"/>
          </a:xfrm>
          <a:prstGeom prst="rect">
            <a:avLst/>
          </a:prstGeom>
          <a:solidFill>
            <a:srgbClr val="6FA8DC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We acknowledge the small-sample limitation openly. The framework is directional planning support, not point prediction.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457275" y="1111425"/>
            <a:ext cx="3931800" cy="2941200"/>
          </a:xfrm>
          <a:prstGeom prst="rect">
            <a:avLst/>
          </a:prstGeom>
          <a:solidFill>
            <a:srgbClr val="F1F4F8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594422" y="1202865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BASELINE</a:t>
            </a:r>
            <a:endParaRPr b="1"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594422" y="1548611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Consolas"/>
              <a:buNone/>
            </a:pPr>
            <a:r>
              <a:rPr b="1"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y_t = β₀ + β₁·y_(t−h) + β₂·qtr + β₃·COVID_t + ε</a:t>
            </a:r>
            <a:endParaRPr b="1" sz="11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594350" y="2743204"/>
            <a:ext cx="365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AR(1) lag at horizon h, factor(qtr) seasonality (Q1 reference), COVID dummy (1 in 2020 Q1–Q4).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594360" y="3383314"/>
            <a:ext cx="365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i="1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is NOT a naive forecast. Seasonality and COVID are already controlled.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4754951" y="1111425"/>
            <a:ext cx="3931800" cy="2941200"/>
          </a:xfrm>
          <a:prstGeom prst="rect">
            <a:avLst/>
          </a:prstGeom>
          <a:solidFill>
            <a:srgbClr val="FFF4EC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892102" y="1202865"/>
            <a:ext cx="3657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AUGMENTED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4892102" y="1548611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Consolas"/>
              <a:buNone/>
            </a:pPr>
            <a:r>
              <a:rPr b="1"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y_t = β₀ + β₁·y_(t−h) + β₂·X_(t−h) + β₃·COVID_t + ε</a:t>
            </a:r>
            <a:endParaRPr b="1" sz="11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892050" y="2743204"/>
            <a:ext cx="365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 each horizon h ∈ {1..6} we fit a SEPARATE regression using ONLY the lag-h predictor - never lags 1 through h-1 simultaneously.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4892040" y="3383314"/>
            <a:ext cx="365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i="1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Lift over baseline = real external signal, net of seasonality.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Forecasting Framework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Baseline vs. augmented | seasonality and COVID are controlled in BOTH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457200" y="4252099"/>
            <a:ext cx="8229600" cy="457200"/>
          </a:xfrm>
          <a:prstGeom prst="rect">
            <a:avLst/>
          </a:prstGeom>
          <a:solidFill>
            <a:srgbClr val="6FA8DC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Why this matters: a 4Q result that's really just seasonality would fool a naive baseline. Ours won't – seasonality is already baked into the baseline it's competing against.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94350" y="2130190"/>
            <a:ext cx="365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Baseline: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Future value is predicted using its own past value, quarterly seasonality, and a COVID adjustment.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4892050" y="2130190"/>
            <a:ext cx="3657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Augmented:</a:t>
            </a: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Future value is predicted using its own past value, an external variable, and a COVID adjustment.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/>
          <p:nvPr/>
        </p:nvSpPr>
        <p:spPr>
          <a:xfrm>
            <a:off x="457200" y="1371600"/>
            <a:ext cx="2679300" cy="2194500"/>
          </a:xfrm>
          <a:prstGeom prst="rect">
            <a:avLst/>
          </a:prstGeom>
          <a:solidFill>
            <a:srgbClr val="F1F4F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685800" y="1508760"/>
            <a:ext cx="548700" cy="548700"/>
          </a:xfrm>
          <a:prstGeom prst="ellipse">
            <a:avLst/>
          </a:prstGeom>
          <a:solidFill>
            <a:srgbClr val="2C5F7A"/>
          </a:solidFill>
          <a:ln cap="flat" cmpd="sng" w="12700">
            <a:solidFill>
              <a:srgbClr val="2C5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685800" y="1508760"/>
            <a:ext cx="548700" cy="548700"/>
          </a:xfrm>
          <a:prstGeom prst="ellipse">
            <a:avLst/>
          </a:prstGeom>
          <a:solidFill>
            <a:srgbClr val="64748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1325880" y="1572768"/>
            <a:ext cx="173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600"/>
              <a:buFont typeface="Calibri"/>
              <a:buNone/>
            </a:pPr>
            <a:r>
              <a:rPr b="1" i="0" lang="en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Split</a:t>
            </a:r>
            <a:endParaRPr i="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685800" y="2240280"/>
            <a:ext cx="22860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Train: 2019 Q1 - 2024 Q4. Hold out 2025 Q1-Q4 (n=4) as test. Each horizon uses its own lag-h split.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3264408" y="1371600"/>
            <a:ext cx="2679300" cy="2194500"/>
          </a:xfrm>
          <a:prstGeom prst="rect">
            <a:avLst/>
          </a:prstGeom>
          <a:solidFill>
            <a:srgbClr val="FFF4EC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3493008" y="1508760"/>
            <a:ext cx="548700" cy="548700"/>
          </a:xfrm>
          <a:prstGeom prst="ellipse">
            <a:avLst/>
          </a:prstGeom>
          <a:solidFill>
            <a:srgbClr val="2C5F7A"/>
          </a:solidFill>
          <a:ln cap="flat" cmpd="sng" w="12700">
            <a:solidFill>
              <a:srgbClr val="2C5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493008" y="1508760"/>
            <a:ext cx="548700" cy="548700"/>
          </a:xfrm>
          <a:prstGeom prst="ellipse">
            <a:avLst/>
          </a:prstGeom>
          <a:solidFill>
            <a:srgbClr val="E8743B">
              <a:alpha val="80380"/>
            </a:srgbClr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4133088" y="1572768"/>
            <a:ext cx="173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600"/>
              <a:buFont typeface="Calibri"/>
              <a:buNone/>
            </a:pPr>
            <a:r>
              <a:rPr b="1" i="0" lang="en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Fit</a:t>
            </a:r>
            <a:endParaRPr i="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3493008" y="2240280"/>
            <a:ext cx="22860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Baseline and augmented fit on the same training window. Effective training n ≈ 22 - 27 obs after lag-h is constructed.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6071616" y="1371600"/>
            <a:ext cx="2679300" cy="2194500"/>
          </a:xfrm>
          <a:prstGeom prst="rect">
            <a:avLst/>
          </a:prstGeom>
          <a:solidFill>
            <a:srgbClr val="F1F4F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6300216" y="1508760"/>
            <a:ext cx="548700" cy="548700"/>
          </a:xfrm>
          <a:prstGeom prst="ellipse">
            <a:avLst/>
          </a:prstGeom>
          <a:solidFill>
            <a:srgbClr val="2C5F7A"/>
          </a:solidFill>
          <a:ln cap="flat" cmpd="sng" w="12700">
            <a:solidFill>
              <a:srgbClr val="2C5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6300216" y="1508760"/>
            <a:ext cx="548700" cy="548700"/>
          </a:xfrm>
          <a:prstGeom prst="ellipse">
            <a:avLst/>
          </a:prstGeom>
          <a:solidFill>
            <a:srgbClr val="64748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" sz="20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i="0" sz="2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6940296" y="1572768"/>
            <a:ext cx="1737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600"/>
              <a:buFont typeface="Calibri"/>
              <a:buNone/>
            </a:pPr>
            <a:r>
              <a:rPr b="1" i="0" lang="en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Measure</a:t>
            </a:r>
            <a:endParaRPr i="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6300216" y="2240280"/>
            <a:ext cx="22860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Out-of-sample MAPE on the 4 held-out 2025 quarters. Lift = (baseline − augmented) / baseline.</a:t>
            </a:r>
            <a:endParaRPr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Validation Approach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Testing on 2025 Q1–Q4</a:t>
            </a: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on the full 2019 - 2025 timeline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457200" y="4252099"/>
            <a:ext cx="8229600" cy="457200"/>
          </a:xfrm>
          <a:prstGeom prst="rect">
            <a:avLst/>
          </a:prstGeom>
          <a:solidFill>
            <a:srgbClr val="6FA8DC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Plots show the FULL 2019 - 2025 timeline. Out-of-sample MAPE is computed only on held-out 2025 Q1 - Q4 (n=4).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2"/>
          <p:cNvSpPr/>
          <p:nvPr/>
        </p:nvSpPr>
        <p:spPr>
          <a:xfrm>
            <a:off x="457200" y="1371600"/>
            <a:ext cx="82296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457200" y="1371600"/>
            <a:ext cx="73200" cy="640200"/>
          </a:xfrm>
          <a:prstGeom prst="rect">
            <a:avLst/>
          </a:prstGeom>
          <a:solidFill>
            <a:srgbClr val="E8743B"/>
          </a:solidFill>
          <a:ln cap="flat" cmpd="sng" w="12700">
            <a:solidFill>
              <a:srgbClr val="E8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685800" y="1444752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Rule 1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1691640" y="144475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MAPE ≤ 30%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4023360" y="1444752"/>
            <a:ext cx="466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Any horizon with MAPE above 30% is too noisy for plannin</a:t>
            </a:r>
            <a:r>
              <a:rPr lang="en" sz="11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g, so we </a:t>
            </a:r>
            <a:r>
              <a:rPr i="0" lang="en" sz="11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drop it.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457200" y="2148840"/>
            <a:ext cx="82296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457200" y="2148840"/>
            <a:ext cx="73200" cy="640200"/>
          </a:xfrm>
          <a:prstGeom prst="rect">
            <a:avLst/>
          </a:prstGeom>
          <a:solidFill>
            <a:srgbClr val="E8743B"/>
          </a:solidFill>
          <a:ln cap="flat" cmpd="sng" w="12700">
            <a:solidFill>
              <a:srgbClr val="E8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685800" y="2221992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Rule 2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1691640" y="222199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Lowest MAPE wins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4023360" y="2221992"/>
            <a:ext cx="466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Among surviving horizons, pick the one with the lowest forecast error.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457200" y="2926080"/>
            <a:ext cx="8229600" cy="64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457200" y="2926080"/>
            <a:ext cx="73200" cy="640200"/>
          </a:xfrm>
          <a:prstGeom prst="rect">
            <a:avLst/>
          </a:prstGeom>
          <a:solidFill>
            <a:srgbClr val="E8743B"/>
          </a:solidFill>
          <a:ln cap="flat" cmpd="sng" w="12700">
            <a:solidFill>
              <a:srgbClr val="E8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685800" y="2999232"/>
            <a:ext cx="1005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100"/>
              <a:buFont typeface="Calibri"/>
              <a:buNone/>
            </a:pPr>
            <a:r>
              <a:rPr b="1" i="0" lang="en" sz="1200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Rule 3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1691640" y="2999232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Longest horizon breaks ties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4023360" y="2999232"/>
            <a:ext cx="4663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When MAPEs are close, prefer the longer horizon </a:t>
            </a:r>
            <a:r>
              <a:rPr lang="en" sz="11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r>
              <a:rPr i="0" lang="en" sz="11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more runway for Lithko to act.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How We Picked the Best Model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pre-specified rules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Sector × Horizon | Out-of-Sample MAPE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Full grid for transparency : selected horizon highlighted per sector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236" name="Google Shape;236;p23"/>
          <p:cNvGraphicFramePr/>
          <p:nvPr/>
        </p:nvGraphicFramePr>
        <p:xfrm>
          <a:off x="457200" y="10573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{5A102B6E-DDDC-4D8A-BC66-E00E17C231BE}</a:tableStyleId>
              </a:tblPr>
              <a:tblGrid>
                <a:gridCol w="1329300"/>
                <a:gridCol w="856075"/>
                <a:gridCol w="823125"/>
                <a:gridCol w="906125"/>
                <a:gridCol w="886100"/>
                <a:gridCol w="876125"/>
                <a:gridCol w="876050"/>
                <a:gridCol w="1126250"/>
              </a:tblGrid>
              <a:tr h="30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Sector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1Q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2Q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3Q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4Q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5Q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6Q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Selected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</a:tr>
              <a:tr h="280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 center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7.6%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20.3%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7.5%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10.3%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5Q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</a:tr>
              <a:tr h="280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warehouse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21.9%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28.1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27.6%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21.2%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6Q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</a:tr>
              <a:tr h="280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Apartment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9.7%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13.2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12.5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4Q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</a:tr>
              <a:tr h="280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Office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&gt;30%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&gt;30%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&gt;30%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&gt;30%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</a:tr>
              <a:tr h="280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Manufacturing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11.7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19.6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5.1%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C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10.8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%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5Q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237" name="Google Shape;237;p23"/>
          <p:cNvSpPr txBox="1"/>
          <p:nvPr/>
        </p:nvSpPr>
        <p:spPr>
          <a:xfrm>
            <a:off x="457200" y="3657600"/>
            <a:ext cx="82296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 u="none" cap="none" strike="noStrike">
                <a:solidFill>
                  <a:srgbClr val="555C6F"/>
                </a:solidFill>
                <a:latin typeface="Montserrat"/>
                <a:ea typeface="Montserrat"/>
                <a:cs typeface="Montserrat"/>
                <a:sym typeface="Montserrat"/>
              </a:rPr>
              <a:t>Selection rule: lowest MAPE meeting the ≤30% threshold; ties broken by longer horizon.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23"/>
          <p:cNvSpPr txBox="1"/>
          <p:nvPr/>
        </p:nvSpPr>
        <p:spPr>
          <a:xfrm>
            <a:off x="457200" y="3931920"/>
            <a:ext cx="82296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 u="none" cap="none" strike="noStrike">
                <a:solidFill>
                  <a:srgbClr val="555C6F"/>
                </a:solidFill>
                <a:latin typeface="Montserrat"/>
                <a:ea typeface="Montserrat"/>
                <a:cs typeface="Montserrat"/>
                <a:sym typeface="Montserrat"/>
              </a:rPr>
              <a:t>1Q and 2Q horizons are below Lithko's 3Q minimum planning-useful window (approval + mobilization cycle).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457200" y="4206240"/>
            <a:ext cx="82296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 u="none" cap="none" strike="noStrike">
                <a:solidFill>
                  <a:srgbClr val="555C6F"/>
                </a:solidFill>
                <a:latin typeface="Montserrat"/>
                <a:ea typeface="Montserrat"/>
                <a:cs typeface="Montserrat"/>
                <a:sym typeface="Montserrat"/>
              </a:rPr>
              <a:t>Office: no horizon clears the 30% threshold under any tested specification reported as no actionable signal.</a:t>
            </a:r>
            <a:endParaRPr sz="11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600"/>
              <a:buFont typeface="Calibri"/>
              <a:buNone/>
            </a:pPr>
            <a:r>
              <a:rPr b="1" i="0" lang="en" sz="25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Data Center</a:t>
            </a:r>
            <a:endParaRPr i="0" sz="2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lots/dc_forecast.png" id="245" name="Google Shape;2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5" y="914400"/>
            <a:ext cx="5154925" cy="397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/>
          <p:nvPr/>
        </p:nvSpPr>
        <p:spPr>
          <a:xfrm>
            <a:off x="5379675" y="840575"/>
            <a:ext cx="3685800" cy="876300"/>
          </a:xfrm>
          <a:prstGeom prst="rect">
            <a:avLst/>
          </a:prstGeom>
          <a:solidFill>
            <a:srgbClr val="1A2332"/>
          </a:solidFill>
          <a:ln cap="flat" cmpd="sng" w="14425">
            <a:solidFill>
              <a:srgbClr val="1A2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5379675" y="861193"/>
            <a:ext cx="122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2044"/>
              <a:buFont typeface="Calibri"/>
              <a:buNone/>
            </a:pPr>
            <a:r>
              <a:rPr b="1" i="0" lang="en" sz="1844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5Q</a:t>
            </a:r>
            <a:endParaRPr i="0" sz="1844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5379675" y="1294164"/>
            <a:ext cx="122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965"/>
              <a:buFont typeface="Calibri"/>
              <a:buNone/>
            </a:pPr>
            <a:r>
              <a:rPr i="0" lang="en" sz="10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horizon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6608309" y="861193"/>
            <a:ext cx="122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D3F"/>
              </a:buClr>
              <a:buSzPts val="2044"/>
              <a:buFont typeface="Calibri"/>
              <a:buNone/>
            </a:pPr>
            <a:r>
              <a:rPr b="1" i="0" lang="en" sz="1844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80.1%</a:t>
            </a:r>
            <a:endParaRPr i="0" sz="1844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6608309" y="1294164"/>
            <a:ext cx="122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965"/>
              <a:buFont typeface="Calibri"/>
              <a:buNone/>
            </a:pPr>
            <a:r>
              <a:rPr i="0" lang="en" sz="10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lift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5379675" y="1809605"/>
            <a:ext cx="3685800" cy="1082100"/>
          </a:xfrm>
          <a:prstGeom prst="rect">
            <a:avLst/>
          </a:prstGeom>
          <a:solidFill>
            <a:srgbClr val="FAE5E2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504269" y="1850840"/>
            <a:ext cx="343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908"/>
              <a:buFont typeface="Calibri"/>
              <a:buNone/>
            </a:pPr>
            <a:r>
              <a:rPr b="1" i="0" lang="en" sz="900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CHOSEN INDICATOR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5504279" y="2077643"/>
            <a:ext cx="35025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1192"/>
              <a:buFont typeface="Calibri"/>
              <a:buNone/>
            </a:pPr>
            <a:r>
              <a:rPr b="1" i="0" lang="en" sz="1000" u="none" cap="none" strike="noStrike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Full spec </a:t>
            </a:r>
            <a:r>
              <a:rPr b="1" lang="en" sz="1000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r>
              <a:rPr b="1" i="0" lang="en" sz="1000" u="none" cap="none" strike="noStrike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 DC capex + utility prod + TCU + PCE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504279" y="2407524"/>
            <a:ext cx="3502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22"/>
              <a:buFont typeface="Calibri"/>
              <a:buNone/>
            </a:pPr>
            <a:r>
              <a:rPr i="0" lang="en" sz="10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DC construction is capex-heavy with a long planning cycle. Macro signals commit many quarters before crews arrive on site.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5379675" y="2984811"/>
            <a:ext cx="3685800" cy="907200"/>
          </a:xfrm>
          <a:prstGeom prst="rect">
            <a:avLst/>
          </a:prstGeom>
          <a:solidFill>
            <a:srgbClr val="FFFFFF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5504269" y="3026047"/>
            <a:ext cx="343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908"/>
              <a:buFont typeface="Calibri"/>
              <a:buNone/>
            </a:pPr>
            <a:r>
              <a:rPr b="1" i="0" lang="en" sz="908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REGRESSION</a:t>
            </a:r>
            <a:endParaRPr i="0" sz="908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5504269" y="3252841"/>
            <a:ext cx="34368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2"/>
              <a:buFont typeface="Consolas"/>
              <a:buNone/>
            </a:pPr>
            <a:r>
              <a:rPr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hours ~ hours_lag5 + qtr + covid + full_indicators_lag5.</a:t>
            </a:r>
            <a:endParaRPr sz="10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5504269" y="3520871"/>
            <a:ext cx="34368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65"/>
              <a:buFont typeface="Calibri"/>
              <a:buNone/>
            </a:pPr>
            <a:r>
              <a:rPr b="1" lang="en" sz="9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R² 0.84 (2019 - 2024 fit); out-of-sample MAPE 7.5% on held-out 2025 Q1-Q4. dc_spending_lag5 positive, p &lt; 0.05.</a:t>
            </a:r>
            <a:endParaRPr b="1" sz="9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5379675" y="3984768"/>
            <a:ext cx="3685800" cy="907200"/>
          </a:xfrm>
          <a:prstGeom prst="rect">
            <a:avLst/>
          </a:prstGeom>
          <a:solidFill>
            <a:srgbClr val="E8F3EC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24"/>
          <p:cNvSpPr/>
          <p:nvPr/>
        </p:nvSpPr>
        <p:spPr>
          <a:xfrm>
            <a:off x="5504269" y="4026003"/>
            <a:ext cx="343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3F"/>
              </a:buClr>
              <a:buSzPts val="908"/>
              <a:buFont typeface="Calibri"/>
              <a:buNone/>
            </a:pPr>
            <a:r>
              <a:rPr b="1" i="0" lang="en" sz="908" u="none" cap="none" strike="noStrike">
                <a:solidFill>
                  <a:srgbClr val="2D7D3F"/>
                </a:solidFill>
                <a:latin typeface="Montserrat"/>
                <a:ea typeface="Montserrat"/>
                <a:cs typeface="Montserrat"/>
                <a:sym typeface="Montserrat"/>
              </a:rPr>
              <a:t>TAKEAWAY</a:t>
            </a:r>
            <a:endParaRPr i="0" sz="908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5504269" y="4242489"/>
            <a:ext cx="34368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22"/>
              <a:buFont typeface="Calibri"/>
              <a:buNone/>
            </a:pPr>
            <a:r>
              <a:rPr lang="en" sz="1022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Strongest forward visibility. The 2024 surge sits inside the fit window; reported 7.5% MAPE is the held-out 2025 error.</a:t>
            </a:r>
            <a:endParaRPr sz="1022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Center</a:t>
            </a:r>
            <a:endParaRPr b="1" sz="1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Strongest-impact sector : macro capex leads labor by 5 quarters</a:t>
            </a:r>
            <a:endParaRPr i="1"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7836944" y="861193"/>
            <a:ext cx="122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44"/>
              <a:buFont typeface="Calibri"/>
              <a:buNone/>
            </a:pPr>
            <a:r>
              <a:rPr b="1" i="0" lang="en" sz="1844" u="none" cap="none" strike="noStrike">
                <a:solidFill>
                  <a:srgbClr val="2D7D3F"/>
                </a:solidFill>
                <a:latin typeface="Montserrat"/>
                <a:ea typeface="Montserrat"/>
                <a:cs typeface="Montserrat"/>
                <a:sym typeface="Montserrat"/>
              </a:rPr>
              <a:t>7.5%</a:t>
            </a:r>
            <a:endParaRPr i="0" sz="1844" u="none" cap="none" strike="noStrike">
              <a:solidFill>
                <a:srgbClr val="2D7D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24"/>
          <p:cNvSpPr/>
          <p:nvPr/>
        </p:nvSpPr>
        <p:spPr>
          <a:xfrm>
            <a:off x="7836944" y="1294164"/>
            <a:ext cx="122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965"/>
              <a:buFont typeface="Calibri"/>
              <a:buNone/>
            </a:pPr>
            <a:r>
              <a:rPr i="0" lang="en" sz="10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MAPE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Warehouse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 quarters of visibility, noisier but still planning-relevant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plots/warehouse_forecast.png" id="270" name="Google Shape;2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50" y="872625"/>
            <a:ext cx="5072649" cy="403077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/>
          <p:nvPr/>
        </p:nvSpPr>
        <p:spPr>
          <a:xfrm>
            <a:off x="5379675" y="840575"/>
            <a:ext cx="3685800" cy="876300"/>
          </a:xfrm>
          <a:prstGeom prst="rect">
            <a:avLst/>
          </a:prstGeom>
          <a:solidFill>
            <a:srgbClr val="1A2332"/>
          </a:solidFill>
          <a:ln cap="flat" cmpd="sng" w="14425">
            <a:solidFill>
              <a:srgbClr val="1A2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25"/>
          <p:cNvSpPr/>
          <p:nvPr/>
        </p:nvSpPr>
        <p:spPr>
          <a:xfrm>
            <a:off x="5379675" y="861193"/>
            <a:ext cx="122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2044"/>
              <a:buFont typeface="Calibri"/>
              <a:buNone/>
            </a:pPr>
            <a:r>
              <a:rPr b="1" lang="en" sz="1844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r>
              <a:rPr b="1" i="0" lang="en" sz="1844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Q</a:t>
            </a:r>
            <a:endParaRPr i="0" sz="1844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25"/>
          <p:cNvSpPr/>
          <p:nvPr/>
        </p:nvSpPr>
        <p:spPr>
          <a:xfrm>
            <a:off x="5379675" y="1294164"/>
            <a:ext cx="122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965"/>
              <a:buFont typeface="Calibri"/>
              <a:buNone/>
            </a:pPr>
            <a:r>
              <a:rPr i="0" lang="en" sz="10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horizon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25"/>
          <p:cNvSpPr/>
          <p:nvPr/>
        </p:nvSpPr>
        <p:spPr>
          <a:xfrm>
            <a:off x="6608309" y="861193"/>
            <a:ext cx="122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D3F"/>
              </a:buClr>
              <a:buSzPts val="2044"/>
              <a:buFont typeface="Calibri"/>
              <a:buNone/>
            </a:pPr>
            <a:r>
              <a:rPr b="1" lang="en" sz="1844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39.7</a:t>
            </a:r>
            <a:r>
              <a:rPr b="1" i="0" lang="en" sz="1844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 i="0" sz="1844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25"/>
          <p:cNvSpPr/>
          <p:nvPr/>
        </p:nvSpPr>
        <p:spPr>
          <a:xfrm>
            <a:off x="6608309" y="1294164"/>
            <a:ext cx="122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965"/>
              <a:buFont typeface="Calibri"/>
              <a:buNone/>
            </a:pPr>
            <a:r>
              <a:rPr i="0" lang="en" sz="10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lift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6" name="Google Shape;276;p25"/>
          <p:cNvSpPr/>
          <p:nvPr/>
        </p:nvSpPr>
        <p:spPr>
          <a:xfrm>
            <a:off x="5379675" y="1809605"/>
            <a:ext cx="3685800" cy="1082100"/>
          </a:xfrm>
          <a:prstGeom prst="rect">
            <a:avLst/>
          </a:prstGeom>
          <a:solidFill>
            <a:srgbClr val="FAE5E2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7" name="Google Shape;277;p25"/>
          <p:cNvSpPr/>
          <p:nvPr/>
        </p:nvSpPr>
        <p:spPr>
          <a:xfrm>
            <a:off x="5504269" y="1850840"/>
            <a:ext cx="343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908"/>
              <a:buFont typeface="Calibri"/>
              <a:buNone/>
            </a:pPr>
            <a:r>
              <a:rPr b="1" i="0" lang="en" sz="900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CHOSEN INDICATOR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25"/>
          <p:cNvSpPr/>
          <p:nvPr/>
        </p:nvSpPr>
        <p:spPr>
          <a:xfrm>
            <a:off x="5379675" y="2984811"/>
            <a:ext cx="3685800" cy="907200"/>
          </a:xfrm>
          <a:prstGeom prst="rect">
            <a:avLst/>
          </a:prstGeom>
          <a:solidFill>
            <a:srgbClr val="FFFFFF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9" name="Google Shape;279;p25"/>
          <p:cNvSpPr/>
          <p:nvPr/>
        </p:nvSpPr>
        <p:spPr>
          <a:xfrm>
            <a:off x="5504269" y="3026047"/>
            <a:ext cx="343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908"/>
              <a:buFont typeface="Calibri"/>
              <a:buNone/>
            </a:pPr>
            <a:r>
              <a:rPr b="1" i="0" lang="en" sz="908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REGRESSION</a:t>
            </a:r>
            <a:endParaRPr i="0" sz="908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25"/>
          <p:cNvSpPr/>
          <p:nvPr/>
        </p:nvSpPr>
        <p:spPr>
          <a:xfrm>
            <a:off x="5504269" y="3252841"/>
            <a:ext cx="34368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2"/>
              <a:buFont typeface="Consolas"/>
              <a:buNone/>
            </a:pPr>
            <a:r>
              <a:rPr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hours ~ hours_lag6 + qtr + covid + full_indicators_lag6.</a:t>
            </a:r>
            <a:endParaRPr sz="10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25"/>
          <p:cNvSpPr/>
          <p:nvPr/>
        </p:nvSpPr>
        <p:spPr>
          <a:xfrm>
            <a:off x="5504269" y="3520871"/>
            <a:ext cx="34368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53"/>
              <a:buFont typeface="Calibri"/>
              <a:buNone/>
            </a:pPr>
            <a:r>
              <a:rPr b="1"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R² </a:t>
            </a:r>
            <a:r>
              <a:rPr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0.71   ecom_sales_lag6 positive, p &lt; 0.10.</a:t>
            </a:r>
            <a:endParaRPr b="1" sz="10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p25"/>
          <p:cNvSpPr/>
          <p:nvPr/>
        </p:nvSpPr>
        <p:spPr>
          <a:xfrm>
            <a:off x="5379675" y="3984768"/>
            <a:ext cx="3685800" cy="907200"/>
          </a:xfrm>
          <a:prstGeom prst="rect">
            <a:avLst/>
          </a:prstGeom>
          <a:solidFill>
            <a:srgbClr val="E8F3EC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5504269" y="4026003"/>
            <a:ext cx="343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3F"/>
              </a:buClr>
              <a:buSzPts val="908"/>
              <a:buFont typeface="Calibri"/>
              <a:buNone/>
            </a:pPr>
            <a:r>
              <a:rPr b="1" i="0" lang="en" sz="908" u="none" cap="none" strike="noStrike">
                <a:solidFill>
                  <a:srgbClr val="2D7D3F"/>
                </a:solidFill>
                <a:latin typeface="Montserrat"/>
                <a:ea typeface="Montserrat"/>
                <a:cs typeface="Montserrat"/>
                <a:sym typeface="Montserrat"/>
              </a:rPr>
              <a:t>TAKEAWAY</a:t>
            </a:r>
            <a:endParaRPr i="0" sz="908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5504269" y="4242489"/>
            <a:ext cx="34368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22"/>
              <a:buFont typeface="Calibri"/>
              <a:buNone/>
            </a:pPr>
            <a:r>
              <a:rPr lang="en" sz="1022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Longer horizon than DC but higher error. 6Q visibility is useful for strategic bid positioning despite the ±21% error band.</a:t>
            </a:r>
            <a:endParaRPr i="0" sz="1022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7836944" y="861193"/>
            <a:ext cx="122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44"/>
              <a:buFont typeface="Calibri"/>
              <a:buNone/>
            </a:pPr>
            <a:r>
              <a:rPr b="1" lang="en" sz="1844">
                <a:solidFill>
                  <a:srgbClr val="2D7D3F"/>
                </a:solidFill>
                <a:latin typeface="Montserrat"/>
                <a:ea typeface="Montserrat"/>
                <a:cs typeface="Montserrat"/>
                <a:sym typeface="Montserrat"/>
              </a:rPr>
              <a:t>21.2</a:t>
            </a:r>
            <a:r>
              <a:rPr b="1" i="0" lang="en" sz="1844" u="none" cap="none" strike="noStrike">
                <a:solidFill>
                  <a:srgbClr val="2D7D3F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 i="0" sz="1844" u="none" cap="none" strike="noStrike">
              <a:solidFill>
                <a:srgbClr val="2D7D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7836944" y="1294164"/>
            <a:ext cx="122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965"/>
              <a:buFont typeface="Calibri"/>
              <a:buNone/>
            </a:pPr>
            <a:r>
              <a:rPr i="0" lang="en" sz="10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MAPE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5504279" y="2077643"/>
            <a:ext cx="35025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1192"/>
              <a:buFont typeface="Calibri"/>
              <a:buNone/>
            </a:pPr>
            <a:r>
              <a:rPr b="1" lang="en" sz="1000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Full spec – e-commerce + PNFI + warehouse + RCPIX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504279" y="2407524"/>
            <a:ext cx="3502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22"/>
              <a:buFont typeface="Calibri"/>
              <a:buNone/>
            </a:pPr>
            <a:r>
              <a:rPr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E-commerce demand drives commercial property investment, which leads warehouse construction labor by ~1.5 years.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ots/apartment_forecast.png" id="293" name="Google Shape;29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625" y="852005"/>
            <a:ext cx="5118174" cy="405139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Apartment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Clean 4-quarter signal from national units-under-construction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26"/>
          <p:cNvSpPr/>
          <p:nvPr/>
        </p:nvSpPr>
        <p:spPr>
          <a:xfrm>
            <a:off x="5379675" y="840575"/>
            <a:ext cx="3685800" cy="876300"/>
          </a:xfrm>
          <a:prstGeom prst="rect">
            <a:avLst/>
          </a:prstGeom>
          <a:solidFill>
            <a:srgbClr val="1A2332"/>
          </a:solidFill>
          <a:ln cap="flat" cmpd="sng" w="14425">
            <a:solidFill>
              <a:srgbClr val="1A2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26"/>
          <p:cNvSpPr/>
          <p:nvPr/>
        </p:nvSpPr>
        <p:spPr>
          <a:xfrm>
            <a:off x="5379675" y="861193"/>
            <a:ext cx="122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2044"/>
              <a:buFont typeface="Calibri"/>
              <a:buNone/>
            </a:pPr>
            <a:r>
              <a:rPr b="1" lang="en" sz="1844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r>
              <a:rPr b="1" i="0" lang="en" sz="1844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Q</a:t>
            </a:r>
            <a:endParaRPr i="0" sz="1844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26"/>
          <p:cNvSpPr/>
          <p:nvPr/>
        </p:nvSpPr>
        <p:spPr>
          <a:xfrm>
            <a:off x="5379675" y="1294164"/>
            <a:ext cx="122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965"/>
              <a:buFont typeface="Calibri"/>
              <a:buNone/>
            </a:pPr>
            <a:r>
              <a:rPr i="0" lang="en" sz="10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horizon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26"/>
          <p:cNvSpPr/>
          <p:nvPr/>
        </p:nvSpPr>
        <p:spPr>
          <a:xfrm>
            <a:off x="6608309" y="861193"/>
            <a:ext cx="122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D3F"/>
              </a:buClr>
              <a:buSzPts val="2044"/>
              <a:buFont typeface="Calibri"/>
              <a:buNone/>
            </a:pPr>
            <a:r>
              <a:rPr b="1" lang="en" sz="1844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23.7</a:t>
            </a:r>
            <a:r>
              <a:rPr b="1" i="0" lang="en" sz="1844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 i="0" sz="1844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6608309" y="1294164"/>
            <a:ext cx="122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965"/>
              <a:buFont typeface="Calibri"/>
              <a:buNone/>
            </a:pPr>
            <a:r>
              <a:rPr i="0" lang="en" sz="10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lift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5379675" y="1809605"/>
            <a:ext cx="3685800" cy="1082100"/>
          </a:xfrm>
          <a:prstGeom prst="rect">
            <a:avLst/>
          </a:prstGeom>
          <a:solidFill>
            <a:srgbClr val="FAE5E2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5504269" y="1850840"/>
            <a:ext cx="343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908"/>
              <a:buFont typeface="Calibri"/>
              <a:buNone/>
            </a:pPr>
            <a:r>
              <a:rPr b="1" i="0" lang="en" sz="900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CHOSEN INDICATOR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5504279" y="2077643"/>
            <a:ext cx="35025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1192"/>
              <a:buFont typeface="Calibri"/>
              <a:buNone/>
            </a:pPr>
            <a:r>
              <a:rPr b="1" lang="en" sz="1000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undcon5musa multi-family units under construction</a:t>
            </a:r>
            <a:endParaRPr b="1" sz="1000">
              <a:solidFill>
                <a:srgbClr val="2C5F7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5504279" y="2407524"/>
            <a:ext cx="3502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22"/>
              <a:buFont typeface="Calibri"/>
              <a:buNone/>
            </a:pPr>
            <a:r>
              <a:rPr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A building under construction today needs concrete crews when the foundation is poured – typically 4 quarters later.</a:t>
            </a:r>
            <a:endParaRPr sz="10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5379675" y="2984811"/>
            <a:ext cx="3685800" cy="907200"/>
          </a:xfrm>
          <a:prstGeom prst="rect">
            <a:avLst/>
          </a:prstGeom>
          <a:solidFill>
            <a:srgbClr val="FFFFFF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5504269" y="3026047"/>
            <a:ext cx="343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908"/>
              <a:buFont typeface="Calibri"/>
              <a:buNone/>
            </a:pPr>
            <a:r>
              <a:rPr b="1" i="0" lang="en" sz="908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REGRESSION</a:t>
            </a:r>
            <a:endParaRPr i="0" sz="908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5504269" y="3252841"/>
            <a:ext cx="34368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2"/>
              <a:buFont typeface="Consolas"/>
              <a:buNone/>
            </a:pPr>
            <a:r>
              <a:rPr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hours ~ hours_lag4 + qtr + covid + undcon5musa_lag4</a:t>
            </a:r>
            <a:endParaRPr sz="10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26"/>
          <p:cNvSpPr/>
          <p:nvPr/>
        </p:nvSpPr>
        <p:spPr>
          <a:xfrm>
            <a:off x="5504269" y="3520871"/>
            <a:ext cx="34368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65"/>
              <a:buFont typeface="Calibri"/>
              <a:buNone/>
            </a:pPr>
            <a:r>
              <a:rPr b="1"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R² </a:t>
            </a:r>
            <a:r>
              <a:rPr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0.78   undcon5musa_lag4 positive, p &lt; 0.01.</a:t>
            </a:r>
            <a:endParaRPr sz="10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5379675" y="3984768"/>
            <a:ext cx="3685800" cy="907200"/>
          </a:xfrm>
          <a:prstGeom prst="rect">
            <a:avLst/>
          </a:prstGeom>
          <a:solidFill>
            <a:srgbClr val="E8F3EC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5504269" y="4026003"/>
            <a:ext cx="343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3F"/>
              </a:buClr>
              <a:buSzPts val="908"/>
              <a:buFont typeface="Calibri"/>
              <a:buNone/>
            </a:pPr>
            <a:r>
              <a:rPr b="1" i="0" lang="en" sz="908" u="none" cap="none" strike="noStrike">
                <a:solidFill>
                  <a:srgbClr val="2D7D3F"/>
                </a:solidFill>
                <a:latin typeface="Montserrat"/>
                <a:ea typeface="Montserrat"/>
                <a:cs typeface="Montserrat"/>
                <a:sym typeface="Montserrat"/>
              </a:rPr>
              <a:t>TAKEAWAY</a:t>
            </a:r>
            <a:endParaRPr i="0" sz="908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5504269" y="4242489"/>
            <a:ext cx="34368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22"/>
              <a:buFont typeface="Calibri"/>
              <a:buNone/>
            </a:pPr>
            <a:r>
              <a:rPr lang="en" sz="1022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Intuitive, single-variable story. Census series is public and easy to monitor. Turnkey for Lithko's planning cycle.</a:t>
            </a:r>
            <a:endParaRPr sz="1022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7836944" y="861193"/>
            <a:ext cx="122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44"/>
              <a:buFont typeface="Calibri"/>
              <a:buNone/>
            </a:pPr>
            <a:r>
              <a:rPr b="1" lang="en" sz="1844">
                <a:solidFill>
                  <a:srgbClr val="2D7D3F"/>
                </a:solidFill>
                <a:latin typeface="Montserrat"/>
                <a:ea typeface="Montserrat"/>
                <a:cs typeface="Montserrat"/>
                <a:sym typeface="Montserrat"/>
              </a:rPr>
              <a:t>9</a:t>
            </a:r>
            <a:r>
              <a:rPr b="1" i="0" lang="en" sz="1844" u="none" cap="none" strike="noStrike">
                <a:solidFill>
                  <a:srgbClr val="2D7D3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lang="en" sz="1844">
                <a:solidFill>
                  <a:srgbClr val="2D7D3F"/>
                </a:solidFill>
                <a:latin typeface="Montserrat"/>
                <a:ea typeface="Montserrat"/>
                <a:cs typeface="Montserrat"/>
                <a:sym typeface="Montserrat"/>
              </a:rPr>
              <a:t>7</a:t>
            </a:r>
            <a:r>
              <a:rPr b="1" i="0" lang="en" sz="1844" u="none" cap="none" strike="noStrike">
                <a:solidFill>
                  <a:srgbClr val="2D7D3F"/>
                </a:solidFill>
                <a:latin typeface="Montserrat"/>
                <a:ea typeface="Montserrat"/>
                <a:cs typeface="Montserrat"/>
                <a:sym typeface="Montserrat"/>
              </a:rPr>
              <a:t>%</a:t>
            </a:r>
            <a:endParaRPr i="0" sz="1844" u="none" cap="none" strike="noStrike">
              <a:solidFill>
                <a:srgbClr val="2D7D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7836944" y="1294164"/>
            <a:ext cx="122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965"/>
              <a:buFont typeface="Calibri"/>
              <a:buNone/>
            </a:pPr>
            <a:r>
              <a:rPr i="0" lang="en" sz="10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MAPE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1A2332"/>
                </a:solidFill>
                <a:latin typeface="Calibri"/>
                <a:ea typeface="Calibri"/>
                <a:cs typeface="Calibri"/>
                <a:sym typeface="Calibri"/>
              </a:rPr>
              <a:t>Office</a:t>
            </a:r>
            <a:endParaRPr b="0" i="0" sz="2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lots/office_forecast.png" id="318" name="Google Shape;31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5" y="861200"/>
            <a:ext cx="5120650" cy="403077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Office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Negative finding : no forecastable signal from our indicators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27"/>
          <p:cNvSpPr/>
          <p:nvPr/>
        </p:nvSpPr>
        <p:spPr>
          <a:xfrm>
            <a:off x="5379675" y="840575"/>
            <a:ext cx="3685800" cy="876300"/>
          </a:xfrm>
          <a:prstGeom prst="rect">
            <a:avLst/>
          </a:prstGeom>
          <a:solidFill>
            <a:srgbClr val="1A2332"/>
          </a:solidFill>
          <a:ln cap="flat" cmpd="sng" w="14425">
            <a:solidFill>
              <a:srgbClr val="1A2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27"/>
          <p:cNvSpPr/>
          <p:nvPr/>
        </p:nvSpPr>
        <p:spPr>
          <a:xfrm>
            <a:off x="5379675" y="861193"/>
            <a:ext cx="122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2044"/>
              <a:buFont typeface="Calibri"/>
              <a:buNone/>
            </a:pPr>
            <a:r>
              <a:rPr b="1" lang="en" sz="1844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i="0" sz="1844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5379675" y="1294164"/>
            <a:ext cx="122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965"/>
              <a:buFont typeface="Calibri"/>
              <a:buNone/>
            </a:pPr>
            <a:r>
              <a:rPr i="0" lang="en" sz="10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horizon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6608309" y="861193"/>
            <a:ext cx="122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D3F"/>
              </a:buClr>
              <a:buSzPts val="2044"/>
              <a:buFont typeface="Calibri"/>
              <a:buNone/>
            </a:pPr>
            <a:r>
              <a:rPr b="1" lang="en" sz="1844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endParaRPr i="0" sz="1844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6608309" y="1294164"/>
            <a:ext cx="122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965"/>
              <a:buFont typeface="Calibri"/>
              <a:buNone/>
            </a:pPr>
            <a:r>
              <a:rPr i="0" lang="en" sz="10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lift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5379675" y="1809605"/>
            <a:ext cx="3685800" cy="1082100"/>
          </a:xfrm>
          <a:prstGeom prst="rect">
            <a:avLst/>
          </a:prstGeom>
          <a:solidFill>
            <a:srgbClr val="FAE5E2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5504269" y="1850840"/>
            <a:ext cx="343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908"/>
              <a:buFont typeface="Calibri"/>
              <a:buNone/>
            </a:pPr>
            <a:r>
              <a:rPr b="1" i="0" lang="en" sz="900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CHOSEN INDICATOR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5504279" y="2077643"/>
            <a:ext cx="35025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1192"/>
              <a:buFont typeface="Calibri"/>
              <a:buNone/>
            </a:pPr>
            <a:r>
              <a:rPr b="1" lang="en" sz="1000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No model clears MAPE ≤ 30% at any 3Q - 6Q horizon</a:t>
            </a:r>
            <a:endParaRPr b="1" sz="1000">
              <a:solidFill>
                <a:srgbClr val="2C5F7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5504279" y="2407524"/>
            <a:ext cx="3502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22"/>
              <a:buFont typeface="Calibri"/>
              <a:buNone/>
            </a:pPr>
            <a:r>
              <a:rPr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Post-2020 WFH shift restructured office construction. Post-2020 dummies and log transforms tested - none rescues the signal.</a:t>
            </a:r>
            <a:endParaRPr sz="10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5379675" y="2984811"/>
            <a:ext cx="3685800" cy="907200"/>
          </a:xfrm>
          <a:prstGeom prst="rect">
            <a:avLst/>
          </a:prstGeom>
          <a:solidFill>
            <a:srgbClr val="FFFFFF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5504269" y="3026047"/>
            <a:ext cx="343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908"/>
              <a:buFont typeface="Calibri"/>
              <a:buNone/>
            </a:pPr>
            <a:r>
              <a:rPr b="1" i="0" lang="en" sz="908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REGRESSION</a:t>
            </a:r>
            <a:endParaRPr i="0" sz="908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27"/>
          <p:cNvSpPr/>
          <p:nvPr/>
        </p:nvSpPr>
        <p:spPr>
          <a:xfrm>
            <a:off x="5504269" y="3252841"/>
            <a:ext cx="34368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2"/>
              <a:buFont typeface="Consolas"/>
              <a:buNone/>
            </a:pPr>
            <a:r>
              <a:rPr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No actionable augmented model found at 3Q - 6Q</a:t>
            </a:r>
            <a:endParaRPr sz="10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27"/>
          <p:cNvSpPr/>
          <p:nvPr/>
        </p:nvSpPr>
        <p:spPr>
          <a:xfrm>
            <a:off x="5504269" y="3520871"/>
            <a:ext cx="34368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65"/>
              <a:buFont typeface="Calibri"/>
              <a:buNone/>
            </a:pPr>
            <a:r>
              <a:rPr b="1"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R² </a:t>
            </a:r>
            <a:r>
              <a:rPr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N/A   Best candidate: office_construction_lag – still &gt; 30% MAPE.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3" name="Google Shape;333;p27"/>
          <p:cNvSpPr/>
          <p:nvPr/>
        </p:nvSpPr>
        <p:spPr>
          <a:xfrm>
            <a:off x="5379675" y="3984768"/>
            <a:ext cx="3685800" cy="907200"/>
          </a:xfrm>
          <a:prstGeom prst="rect">
            <a:avLst/>
          </a:prstGeom>
          <a:solidFill>
            <a:srgbClr val="E8F3EC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4" name="Google Shape;334;p27"/>
          <p:cNvSpPr/>
          <p:nvPr/>
        </p:nvSpPr>
        <p:spPr>
          <a:xfrm>
            <a:off x="5504269" y="4026003"/>
            <a:ext cx="343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3F"/>
              </a:buClr>
              <a:buSzPts val="908"/>
              <a:buFont typeface="Calibri"/>
              <a:buNone/>
            </a:pPr>
            <a:r>
              <a:rPr b="1" i="0" lang="en" sz="908" u="none" cap="none" strike="noStrike">
                <a:solidFill>
                  <a:srgbClr val="2D7D3F"/>
                </a:solidFill>
                <a:latin typeface="Montserrat"/>
                <a:ea typeface="Montserrat"/>
                <a:cs typeface="Montserrat"/>
                <a:sym typeface="Montserrat"/>
              </a:rPr>
              <a:t>TAKEAWAY</a:t>
            </a:r>
            <a:endParaRPr i="0" sz="908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27"/>
          <p:cNvSpPr/>
          <p:nvPr/>
        </p:nvSpPr>
        <p:spPr>
          <a:xfrm>
            <a:off x="5504269" y="4242489"/>
            <a:ext cx="34368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22"/>
              <a:buFont typeface="Calibri"/>
              <a:buNone/>
            </a:pPr>
            <a:r>
              <a:rPr lang="en" sz="1022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No signal result, not a cherry-picked number. A false positive on Office would undermine every other sector's credibility.</a:t>
            </a:r>
            <a:endParaRPr i="0" sz="1022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6" name="Google Shape;336;p27"/>
          <p:cNvSpPr/>
          <p:nvPr/>
        </p:nvSpPr>
        <p:spPr>
          <a:xfrm>
            <a:off x="7836944" y="861193"/>
            <a:ext cx="122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44"/>
              <a:buFont typeface="Calibri"/>
              <a:buNone/>
            </a:pPr>
            <a:r>
              <a:rPr b="1" lang="en" sz="1844">
                <a:solidFill>
                  <a:srgbClr val="2D7D3F"/>
                </a:solidFill>
                <a:latin typeface="Montserrat"/>
                <a:ea typeface="Montserrat"/>
                <a:cs typeface="Montserrat"/>
                <a:sym typeface="Montserrat"/>
              </a:rPr>
              <a:t>&gt;30%</a:t>
            </a:r>
            <a:endParaRPr i="0" sz="1844" u="none" cap="none" strike="noStrike">
              <a:solidFill>
                <a:srgbClr val="2D7D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7836944" y="1294164"/>
            <a:ext cx="122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965"/>
              <a:buFont typeface="Calibri"/>
              <a:buNone/>
            </a:pPr>
            <a:r>
              <a:rPr i="0" lang="en" sz="10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MAPE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ots/manufacturing_forecast.png" id="342" name="Google Shape;34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5" y="861200"/>
            <a:ext cx="5143501" cy="4030776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8"/>
          <p:cNvSpPr/>
          <p:nvPr/>
        </p:nvSpPr>
        <p:spPr>
          <a:xfrm>
            <a:off x="457200" y="256032"/>
            <a:ext cx="8229600" cy="5028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2600"/>
              <a:buFont typeface="Calibri"/>
              <a:buNone/>
            </a:pPr>
            <a:r>
              <a:rPr b="1" i="0" lang="en" sz="25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Data Center</a:t>
            </a:r>
            <a:endParaRPr i="0" sz="25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Manufacturing</a:t>
            </a:r>
            <a:endParaRPr b="1" sz="19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Cleanest signal of all five sectors – PNFI leads labor by 5 quarters</a:t>
            </a:r>
            <a:endParaRPr i="1" sz="1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28"/>
          <p:cNvSpPr/>
          <p:nvPr/>
        </p:nvSpPr>
        <p:spPr>
          <a:xfrm>
            <a:off x="5379675" y="840575"/>
            <a:ext cx="3685800" cy="876300"/>
          </a:xfrm>
          <a:prstGeom prst="rect">
            <a:avLst/>
          </a:prstGeom>
          <a:solidFill>
            <a:srgbClr val="1A2332"/>
          </a:solidFill>
          <a:ln cap="flat" cmpd="sng" w="14425">
            <a:solidFill>
              <a:srgbClr val="1A23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28"/>
          <p:cNvSpPr/>
          <p:nvPr/>
        </p:nvSpPr>
        <p:spPr>
          <a:xfrm>
            <a:off x="5379675" y="861193"/>
            <a:ext cx="122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2044"/>
              <a:buFont typeface="Calibri"/>
              <a:buNone/>
            </a:pPr>
            <a:r>
              <a:rPr b="1" lang="en" sz="1844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5Q</a:t>
            </a:r>
            <a:endParaRPr i="0" sz="1844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28"/>
          <p:cNvSpPr/>
          <p:nvPr/>
        </p:nvSpPr>
        <p:spPr>
          <a:xfrm>
            <a:off x="5379675" y="1294164"/>
            <a:ext cx="122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965"/>
              <a:buFont typeface="Calibri"/>
              <a:buNone/>
            </a:pPr>
            <a:r>
              <a:rPr i="0" lang="en" sz="10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horizon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28"/>
          <p:cNvSpPr/>
          <p:nvPr/>
        </p:nvSpPr>
        <p:spPr>
          <a:xfrm>
            <a:off x="6608309" y="861193"/>
            <a:ext cx="122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7D3F"/>
              </a:buClr>
              <a:buSzPts val="2044"/>
              <a:buFont typeface="Calibri"/>
              <a:buNone/>
            </a:pPr>
            <a:r>
              <a:rPr b="1" lang="en" sz="1844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83.8%</a:t>
            </a:r>
            <a:endParaRPr i="0" sz="1844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28"/>
          <p:cNvSpPr/>
          <p:nvPr/>
        </p:nvSpPr>
        <p:spPr>
          <a:xfrm>
            <a:off x="6608309" y="1294164"/>
            <a:ext cx="122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965"/>
              <a:buFont typeface="Calibri"/>
              <a:buNone/>
            </a:pPr>
            <a:r>
              <a:rPr i="0" lang="en" sz="10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lift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28"/>
          <p:cNvSpPr/>
          <p:nvPr/>
        </p:nvSpPr>
        <p:spPr>
          <a:xfrm>
            <a:off x="5379675" y="1809605"/>
            <a:ext cx="3685800" cy="1082100"/>
          </a:xfrm>
          <a:prstGeom prst="rect">
            <a:avLst/>
          </a:prstGeom>
          <a:solidFill>
            <a:srgbClr val="FAE5E2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28"/>
          <p:cNvSpPr/>
          <p:nvPr/>
        </p:nvSpPr>
        <p:spPr>
          <a:xfrm>
            <a:off x="5504269" y="1850840"/>
            <a:ext cx="343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908"/>
              <a:buFont typeface="Calibri"/>
              <a:buNone/>
            </a:pPr>
            <a:r>
              <a:rPr b="1" i="0" lang="en" sz="900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CHOSEN INDICATOR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28"/>
          <p:cNvSpPr/>
          <p:nvPr/>
        </p:nvSpPr>
        <p:spPr>
          <a:xfrm>
            <a:off x="5504279" y="2077643"/>
            <a:ext cx="35025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1192"/>
              <a:buFont typeface="Calibri"/>
              <a:buNone/>
            </a:pPr>
            <a:r>
              <a:rPr b="1" lang="en" sz="1000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PNFI – Private Nonresidential Fixed Investment (FRED)</a:t>
            </a:r>
            <a:endParaRPr b="1" sz="1000">
              <a:solidFill>
                <a:srgbClr val="2C5F7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28"/>
          <p:cNvSpPr/>
          <p:nvPr/>
        </p:nvSpPr>
        <p:spPr>
          <a:xfrm>
            <a:off x="5504279" y="2407524"/>
            <a:ext cx="3502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22"/>
              <a:buFont typeface="Calibri"/>
              <a:buNone/>
            </a:pPr>
            <a:r>
              <a:rPr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Industrial capex commits 6 - 12 months before groundbreaking. Re-shoring and CHIPS incentives create large pipeline signals.</a:t>
            </a:r>
            <a:endParaRPr sz="10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28"/>
          <p:cNvSpPr/>
          <p:nvPr/>
        </p:nvSpPr>
        <p:spPr>
          <a:xfrm>
            <a:off x="5379675" y="2984811"/>
            <a:ext cx="3685800" cy="907200"/>
          </a:xfrm>
          <a:prstGeom prst="rect">
            <a:avLst/>
          </a:prstGeom>
          <a:solidFill>
            <a:srgbClr val="FFFFFF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5" name="Google Shape;355;p28"/>
          <p:cNvSpPr/>
          <p:nvPr/>
        </p:nvSpPr>
        <p:spPr>
          <a:xfrm>
            <a:off x="5504269" y="3026047"/>
            <a:ext cx="343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908"/>
              <a:buFont typeface="Calibri"/>
              <a:buNone/>
            </a:pPr>
            <a:r>
              <a:rPr b="1" i="0" lang="en" sz="908" u="none" cap="none" strike="noStrike">
                <a:solidFill>
                  <a:srgbClr val="E8743B"/>
                </a:solidFill>
                <a:latin typeface="Montserrat"/>
                <a:ea typeface="Montserrat"/>
                <a:cs typeface="Montserrat"/>
                <a:sym typeface="Montserrat"/>
              </a:rPr>
              <a:t>REGRESSION</a:t>
            </a:r>
            <a:endParaRPr i="0" sz="908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28"/>
          <p:cNvSpPr/>
          <p:nvPr/>
        </p:nvSpPr>
        <p:spPr>
          <a:xfrm>
            <a:off x="5504269" y="3252841"/>
            <a:ext cx="3436800" cy="24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852"/>
              <a:buFont typeface="Consolas"/>
              <a:buNone/>
            </a:pPr>
            <a:r>
              <a:rPr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hours ~ hours_lag5 + qtr + covid + pnfi_lag5.</a:t>
            </a:r>
            <a:endParaRPr sz="10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p28"/>
          <p:cNvSpPr/>
          <p:nvPr/>
        </p:nvSpPr>
        <p:spPr>
          <a:xfrm>
            <a:off x="5504269" y="3520871"/>
            <a:ext cx="34368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965"/>
              <a:buFont typeface="Calibri"/>
              <a:buNone/>
            </a:pPr>
            <a:r>
              <a:rPr b="1"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R² </a:t>
            </a:r>
            <a:r>
              <a:rPr lang="en" sz="10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0.89   pnfi_lag5 positive, p &lt; 0.001.</a:t>
            </a:r>
            <a:endParaRPr sz="1000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28"/>
          <p:cNvSpPr/>
          <p:nvPr/>
        </p:nvSpPr>
        <p:spPr>
          <a:xfrm>
            <a:off x="5379675" y="3984768"/>
            <a:ext cx="3685800" cy="907200"/>
          </a:xfrm>
          <a:prstGeom prst="rect">
            <a:avLst/>
          </a:prstGeom>
          <a:solidFill>
            <a:srgbClr val="E8F3EC"/>
          </a:solidFill>
          <a:ln cap="flat" cmpd="sng" w="108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800" lIns="103800" spcFirstLastPara="1" rIns="103800" wrap="square" tIns="103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9" name="Google Shape;359;p28"/>
          <p:cNvSpPr/>
          <p:nvPr/>
        </p:nvSpPr>
        <p:spPr>
          <a:xfrm>
            <a:off x="5504269" y="4026003"/>
            <a:ext cx="34368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7D3F"/>
              </a:buClr>
              <a:buSzPts val="908"/>
              <a:buFont typeface="Calibri"/>
              <a:buNone/>
            </a:pPr>
            <a:r>
              <a:rPr b="1" i="0" lang="en" sz="908" u="none" cap="none" strike="noStrike">
                <a:solidFill>
                  <a:srgbClr val="2D7D3F"/>
                </a:solidFill>
                <a:latin typeface="Montserrat"/>
                <a:ea typeface="Montserrat"/>
                <a:cs typeface="Montserrat"/>
                <a:sym typeface="Montserrat"/>
              </a:rPr>
              <a:t>TAKEAWAY</a:t>
            </a:r>
            <a:endParaRPr i="0" sz="908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0" name="Google Shape;360;p28"/>
          <p:cNvSpPr/>
          <p:nvPr/>
        </p:nvSpPr>
        <p:spPr>
          <a:xfrm>
            <a:off x="5504269" y="4242489"/>
            <a:ext cx="3436800" cy="59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022"/>
              <a:buFont typeface="Calibri"/>
              <a:buNone/>
            </a:pPr>
            <a:r>
              <a:rPr lang="en" sz="1022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5Q ahead at 5% MAPE. Over a year of clear forward visibility on manufacturing labor demand.</a:t>
            </a:r>
            <a:endParaRPr sz="1022">
              <a:solidFill>
                <a:srgbClr val="1A233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1" name="Google Shape;361;p28"/>
          <p:cNvSpPr/>
          <p:nvPr/>
        </p:nvSpPr>
        <p:spPr>
          <a:xfrm>
            <a:off x="7836944" y="861193"/>
            <a:ext cx="12285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44"/>
              <a:buFont typeface="Calibri"/>
              <a:buNone/>
            </a:pPr>
            <a:r>
              <a:rPr b="1" lang="en" sz="1844">
                <a:solidFill>
                  <a:srgbClr val="2D7D3F"/>
                </a:solidFill>
                <a:latin typeface="Montserrat"/>
                <a:ea typeface="Montserrat"/>
                <a:cs typeface="Montserrat"/>
                <a:sym typeface="Montserrat"/>
              </a:rPr>
              <a:t>5.1%</a:t>
            </a:r>
            <a:endParaRPr i="0" sz="1844" u="none" cap="none" strike="noStrike">
              <a:solidFill>
                <a:srgbClr val="2D7D3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2" name="Google Shape;362;p28"/>
          <p:cNvSpPr/>
          <p:nvPr/>
        </p:nvSpPr>
        <p:spPr>
          <a:xfrm>
            <a:off x="7836944" y="1294164"/>
            <a:ext cx="12285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965"/>
              <a:buFont typeface="Calibri"/>
              <a:buNone/>
            </a:pPr>
            <a:r>
              <a:rPr i="0" lang="en" sz="10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MAPE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7" name="Google Shape;367;p29"/>
          <p:cNvGraphicFramePr/>
          <p:nvPr/>
        </p:nvGraphicFramePr>
        <p:xfrm>
          <a:off x="171465" y="11773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{26971416-42D1-4412-B253-2766C2BD549C}</a:tableStyleId>
              </a:tblPr>
              <a:tblGrid>
                <a:gridCol w="1298450"/>
                <a:gridCol w="860200"/>
                <a:gridCol w="1641500"/>
                <a:gridCol w="855025"/>
                <a:gridCol w="855025"/>
                <a:gridCol w="3325150"/>
              </a:tblGrid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Sector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Horizon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Chosen Indicator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Lift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MAPE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Business implication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</a:tr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 Center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5Q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All indicators (Full)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7D3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D7D3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80.1%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7.5%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Monitor DC capex + utility production; plan 5Q ahead.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Warehouse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6Q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All indicators (Full)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7D3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D7D3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39.7%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21.2%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Track e-commerce + PNFI; 6Q window for bid positioning.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Apartment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4Q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undcon5musa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7D3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D7D3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23.7%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9.7%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Watch national </a:t>
                      </a:r>
                      <a:r>
                        <a:rPr lang="en" sz="1100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multifamily</a:t>
                      </a: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pipeline; 4Q to labor.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Office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no signal </a:t>
                      </a:r>
                      <a:r>
                        <a:rPr lang="en" sz="1100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02F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>
                          <a:solidFill>
                            <a:srgbClr val="C4402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02F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 u="none" cap="none" strike="noStrike">
                          <a:solidFill>
                            <a:srgbClr val="C4402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&gt;30%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02F"/>
                        </a:buClr>
                        <a:buSzPts val="1100"/>
                        <a:buFont typeface="Calibri"/>
                        <a:buNone/>
                      </a:pPr>
                      <a:r>
                        <a:rPr i="1" lang="en" sz="1100" u="none" cap="none" strike="noStrike">
                          <a:solidFill>
                            <a:srgbClr val="C4402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 actionable forecast; treat as stable/reactive sector</a:t>
                      </a:r>
                      <a:r>
                        <a:rPr i="1" lang="en" sz="1100">
                          <a:solidFill>
                            <a:srgbClr val="C4402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.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Manufacturing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5Q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PNFI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7D3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2D7D3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83.8%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5.1%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Strongest single-variable signal; use as flagship example.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8" name="Google Shape;368;p29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Cross-Sector Story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One page to share with the Lithko planning team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29"/>
          <p:cNvSpPr/>
          <p:nvPr/>
        </p:nvSpPr>
        <p:spPr>
          <a:xfrm>
            <a:off x="457200" y="4252099"/>
            <a:ext cx="8229600" cy="457200"/>
          </a:xfrm>
          <a:prstGeom prst="rect">
            <a:avLst/>
          </a:prstGeom>
          <a:solidFill>
            <a:srgbClr val="6FA8DC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Pattern:</a:t>
            </a: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The stronger a sector's macro-capex linkage, the further ahead we can see – Manufacturing and Data Center lead the board.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0"/>
          <p:cNvSpPr/>
          <p:nvPr/>
        </p:nvSpPr>
        <p:spPr>
          <a:xfrm>
            <a:off x="457200" y="128016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Calibri"/>
              <a:buNone/>
            </a:pPr>
            <a:r>
              <a:rPr b="1" i="0" lang="en" sz="13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Seasonality coefficients (baseline model)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30"/>
          <p:cNvSpPr/>
          <p:nvPr/>
        </p:nvSpPr>
        <p:spPr>
          <a:xfrm>
            <a:off x="457200" y="155448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1" lang="en" sz="10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Encoded as factor(qtr) - Q2/Q3/Q4 dummies with Q1 as reference. NOT a 1-2-3-4 numeric trend.</a:t>
            </a:r>
            <a:endParaRPr i="1" sz="1000">
              <a:solidFill>
                <a:srgbClr val="64748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76" name="Google Shape;376;p30"/>
          <p:cNvGraphicFramePr/>
          <p:nvPr/>
        </p:nvGraphicFramePr>
        <p:xfrm>
          <a:off x="461763" y="20060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{26971416-42D1-4412-B253-2766C2BD549C}</a:tableStyleId>
              </a:tblPr>
              <a:tblGrid>
                <a:gridCol w="1554475"/>
                <a:gridCol w="850400"/>
                <a:gridCol w="850400"/>
                <a:gridCol w="104470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Sector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Q2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Q3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Q4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 Center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+high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+high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moderate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Warehouse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+high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+peak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+high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Apartment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+mod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+high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+high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Office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+mod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+mod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+mod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Manufacturing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+mod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+high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0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+high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7" name="Google Shape;377;p30"/>
          <p:cNvSpPr/>
          <p:nvPr/>
        </p:nvSpPr>
        <p:spPr>
          <a:xfrm>
            <a:off x="4960620" y="1280160"/>
            <a:ext cx="3840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Calibri"/>
              <a:buNone/>
            </a:pPr>
            <a:r>
              <a:rPr b="1" i="0" lang="en" sz="13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Baseline bias check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8" name="Google Shape;378;p30"/>
          <p:cNvSpPr/>
          <p:nvPr/>
        </p:nvSpPr>
        <p:spPr>
          <a:xfrm>
            <a:off x="4960625" y="1554475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1" lang="en" sz="11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Does the baseline systematically over</a:t>
            </a:r>
            <a:r>
              <a:rPr i="1" lang="en" sz="11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en" sz="11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or</a:t>
            </a:r>
            <a:r>
              <a:rPr i="1" lang="en" sz="11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1" lang="en" sz="11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under-forecast?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9" name="Google Shape;379;p30"/>
          <p:cNvSpPr/>
          <p:nvPr/>
        </p:nvSpPr>
        <p:spPr>
          <a:xfrm>
            <a:off x="4960625" y="2006082"/>
            <a:ext cx="3840600" cy="17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Montserrat"/>
              <a:buChar char="●"/>
            </a:pPr>
            <a:r>
              <a:rPr i="0" lang="en" sz="12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All 5 baselines have mean residual within ±3% of zero over 2019</a:t>
            </a:r>
            <a:r>
              <a:rPr lang="en" sz="12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i="0" lang="en" sz="12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2025.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Montserrat"/>
              <a:buChar char="●"/>
            </a:pPr>
            <a:r>
              <a:rPr i="0" lang="en" sz="12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No visual drift when plotted against actuals on full timeline.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Montserrat"/>
              <a:buChar char="●"/>
            </a:pPr>
            <a:r>
              <a:rPr i="0" lang="en" sz="12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COVID quarters are absorbed by the covid dummy (not contaminating estimates).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925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1A2332"/>
              </a:buClr>
              <a:buSzPts val="1200"/>
              <a:buFont typeface="Montserrat"/>
              <a:buChar char="●"/>
            </a:pPr>
            <a:r>
              <a:rPr i="0" lang="en" sz="12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Warehouse 2020 outlier quarter removed (|z| &gt; 2) as committed at midterm.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Seasonality &amp; Baseline Check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Proof that our lift is real signal, not a seasonality artifact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30"/>
          <p:cNvSpPr/>
          <p:nvPr/>
        </p:nvSpPr>
        <p:spPr>
          <a:xfrm>
            <a:off x="457200" y="4252099"/>
            <a:ext cx="8229600" cy="457200"/>
          </a:xfrm>
          <a:prstGeom prst="rect">
            <a:avLst/>
          </a:prstGeom>
          <a:solidFill>
            <a:srgbClr val="6FA8DC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Every sector shows strong summer peaks, this is why seasonal dummies MUST be in the baseline.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1"/>
          <p:cNvSpPr/>
          <p:nvPr/>
        </p:nvSpPr>
        <p:spPr>
          <a:xfrm>
            <a:off x="457200" y="1371600"/>
            <a:ext cx="1965900" cy="256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7" name="Google Shape;387;p31"/>
          <p:cNvSpPr/>
          <p:nvPr/>
        </p:nvSpPr>
        <p:spPr>
          <a:xfrm>
            <a:off x="457200" y="1371600"/>
            <a:ext cx="1965900" cy="365700"/>
          </a:xfrm>
          <a:prstGeom prst="rect">
            <a:avLst/>
          </a:prstGeom>
          <a:solidFill>
            <a:srgbClr val="2C5F7A"/>
          </a:solidFill>
          <a:ln cap="flat" cmpd="sng" w="12700">
            <a:solidFill>
              <a:srgbClr val="2C5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8" name="Google Shape;388;p31"/>
          <p:cNvSpPr/>
          <p:nvPr/>
        </p:nvSpPr>
        <p:spPr>
          <a:xfrm>
            <a:off x="457200" y="1371600"/>
            <a:ext cx="196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Quarter 1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9" name="Google Shape;389;p31"/>
          <p:cNvSpPr/>
          <p:nvPr/>
        </p:nvSpPr>
        <p:spPr>
          <a:xfrm>
            <a:off x="594360" y="1874520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Data refresh pipeline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0" name="Google Shape;390;p31"/>
          <p:cNvSpPr/>
          <p:nvPr/>
        </p:nvSpPr>
        <p:spPr>
          <a:xfrm>
            <a:off x="594360" y="2286000"/>
            <a:ext cx="16917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Automate FRED + Census downloads; lock the R Markdown into a recurring job at the end of each quarter.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2587752" y="1371600"/>
            <a:ext cx="1965900" cy="256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2587752" y="1371600"/>
            <a:ext cx="1965900" cy="365700"/>
          </a:xfrm>
          <a:prstGeom prst="rect">
            <a:avLst/>
          </a:prstGeom>
          <a:solidFill>
            <a:srgbClr val="2C5F7A"/>
          </a:solidFill>
          <a:ln cap="flat" cmpd="sng" w="12700">
            <a:solidFill>
              <a:srgbClr val="2C5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31"/>
          <p:cNvSpPr/>
          <p:nvPr/>
        </p:nvSpPr>
        <p:spPr>
          <a:xfrm>
            <a:off x="2587752" y="1371600"/>
            <a:ext cx="196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Quarter 2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31"/>
          <p:cNvSpPr/>
          <p:nvPr/>
        </p:nvSpPr>
        <p:spPr>
          <a:xfrm>
            <a:off x="2724912" y="1874520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Forecast dashboard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5" name="Google Shape;395;p31"/>
          <p:cNvSpPr/>
          <p:nvPr/>
        </p:nvSpPr>
        <p:spPr>
          <a:xfrm>
            <a:off x="2724850" y="2286000"/>
            <a:ext cx="16917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Publish the 4 actionable sector forecasts (DC, Warehouse, Apartment, Manufacturing) to Lithko's planning portal.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31"/>
          <p:cNvSpPr/>
          <p:nvPr/>
        </p:nvSpPr>
        <p:spPr>
          <a:xfrm>
            <a:off x="4718304" y="1371600"/>
            <a:ext cx="1965900" cy="256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7" name="Google Shape;397;p31"/>
          <p:cNvSpPr/>
          <p:nvPr/>
        </p:nvSpPr>
        <p:spPr>
          <a:xfrm>
            <a:off x="4718304" y="1371600"/>
            <a:ext cx="1965900" cy="365700"/>
          </a:xfrm>
          <a:prstGeom prst="rect">
            <a:avLst/>
          </a:prstGeom>
          <a:solidFill>
            <a:srgbClr val="2C5F7A"/>
          </a:solidFill>
          <a:ln cap="flat" cmpd="sng" w="12700">
            <a:solidFill>
              <a:srgbClr val="2C5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8" name="Google Shape;398;p31"/>
          <p:cNvSpPr/>
          <p:nvPr/>
        </p:nvSpPr>
        <p:spPr>
          <a:xfrm>
            <a:off x="4718304" y="1371600"/>
            <a:ext cx="196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Quarter 3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31"/>
          <p:cNvSpPr/>
          <p:nvPr/>
        </p:nvSpPr>
        <p:spPr>
          <a:xfrm>
            <a:off x="4855464" y="1874520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Planning integration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0" name="Google Shape;400;p31"/>
          <p:cNvSpPr/>
          <p:nvPr/>
        </p:nvSpPr>
        <p:spPr>
          <a:xfrm>
            <a:off x="4855464" y="2286000"/>
            <a:ext cx="16917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Tie forecasts to bid-pipeline decisions; set thresholds that trigger capacity reviews.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1" name="Google Shape;401;p31"/>
          <p:cNvSpPr/>
          <p:nvPr/>
        </p:nvSpPr>
        <p:spPr>
          <a:xfrm>
            <a:off x="6848856" y="1371600"/>
            <a:ext cx="1965900" cy="256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2" name="Google Shape;402;p31"/>
          <p:cNvSpPr/>
          <p:nvPr/>
        </p:nvSpPr>
        <p:spPr>
          <a:xfrm>
            <a:off x="6848856" y="1371600"/>
            <a:ext cx="1965900" cy="365700"/>
          </a:xfrm>
          <a:prstGeom prst="rect">
            <a:avLst/>
          </a:prstGeom>
          <a:solidFill>
            <a:srgbClr val="2C5F7A"/>
          </a:solidFill>
          <a:ln cap="flat" cmpd="sng" w="12700">
            <a:solidFill>
              <a:srgbClr val="2C5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6848856" y="1371600"/>
            <a:ext cx="1965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Year 1+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31"/>
          <p:cNvSpPr/>
          <p:nvPr/>
        </p:nvSpPr>
        <p:spPr>
          <a:xfrm>
            <a:off x="6986016" y="1874520"/>
            <a:ext cx="16917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Annual revalidation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31"/>
          <p:cNvSpPr/>
          <p:nvPr/>
        </p:nvSpPr>
        <p:spPr>
          <a:xfrm>
            <a:off x="6986016" y="2286000"/>
            <a:ext cx="16917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Calibri"/>
              <a:buNone/>
            </a:pPr>
            <a:r>
              <a:rPr i="0" lang="en" sz="1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Re-fit models each year; add regional splits (Midwest vs Southeast) once enough sector-region history accumulates.</a:t>
            </a:r>
            <a:endParaRPr i="0" sz="11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31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Implementation Roadmap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From code to recurring planning input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31"/>
          <p:cNvSpPr/>
          <p:nvPr/>
        </p:nvSpPr>
        <p:spPr>
          <a:xfrm>
            <a:off x="457200" y="4252099"/>
            <a:ext cx="8229600" cy="457200"/>
          </a:xfrm>
          <a:prstGeom prst="rect">
            <a:avLst/>
          </a:prstGeom>
          <a:solidFill>
            <a:srgbClr val="6FA8DC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code is parameterized, plug a new sector in, redo analysis. Reproducibility is a feature, not a promise.</a:t>
            </a:r>
            <a:endParaRPr sz="1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2"/>
          <p:cNvSpPr/>
          <p:nvPr/>
        </p:nvSpPr>
        <p:spPr>
          <a:xfrm>
            <a:off x="457200" y="1371600"/>
            <a:ext cx="82296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3" name="Google Shape;413;p32"/>
          <p:cNvSpPr/>
          <p:nvPr/>
        </p:nvSpPr>
        <p:spPr>
          <a:xfrm>
            <a:off x="457200" y="1371600"/>
            <a:ext cx="109800" cy="530400"/>
          </a:xfrm>
          <a:prstGeom prst="rect">
            <a:avLst/>
          </a:prstGeom>
          <a:solidFill>
            <a:srgbClr val="2D7D3F"/>
          </a:solidFill>
          <a:ln cap="flat" cmpd="sng" w="12700">
            <a:solidFill>
              <a:srgbClr val="2D7D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32"/>
          <p:cNvSpPr/>
          <p:nvPr/>
        </p:nvSpPr>
        <p:spPr>
          <a:xfrm>
            <a:off x="685800" y="1453896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Data Center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32"/>
          <p:cNvSpPr/>
          <p:nvPr/>
        </p:nvSpPr>
        <p:spPr>
          <a:xfrm>
            <a:off x="2560320" y="1453896"/>
            <a:ext cx="612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Track quarterly DC capex + utility production; trigger capacity-planning review when the 5Q-ahead forecast rises &gt;10%.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6" name="Google Shape;416;p32"/>
          <p:cNvSpPr/>
          <p:nvPr/>
        </p:nvSpPr>
        <p:spPr>
          <a:xfrm>
            <a:off x="457200" y="1993392"/>
            <a:ext cx="82296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7" name="Google Shape;417;p32"/>
          <p:cNvSpPr/>
          <p:nvPr/>
        </p:nvSpPr>
        <p:spPr>
          <a:xfrm>
            <a:off x="457200" y="1993392"/>
            <a:ext cx="109800" cy="530400"/>
          </a:xfrm>
          <a:prstGeom prst="rect">
            <a:avLst/>
          </a:prstGeom>
          <a:solidFill>
            <a:srgbClr val="2C5F7A"/>
          </a:solidFill>
          <a:ln cap="flat" cmpd="sng" w="12700">
            <a:solidFill>
              <a:srgbClr val="2C5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8" name="Google Shape;418;p32"/>
          <p:cNvSpPr/>
          <p:nvPr/>
        </p:nvSpPr>
        <p:spPr>
          <a:xfrm>
            <a:off x="685800" y="2075688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Warehouse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9" name="Google Shape;419;p32"/>
          <p:cNvSpPr/>
          <p:nvPr/>
        </p:nvSpPr>
        <p:spPr>
          <a:xfrm>
            <a:off x="2560320" y="2075688"/>
            <a:ext cx="612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Monitor e-commerce sales + PNFI; use the 6Q window for strategic bid positioning, not tactical staffing.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0" name="Google Shape;420;p32"/>
          <p:cNvSpPr/>
          <p:nvPr/>
        </p:nvSpPr>
        <p:spPr>
          <a:xfrm>
            <a:off x="457200" y="2615184"/>
            <a:ext cx="82296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1" name="Google Shape;421;p32"/>
          <p:cNvSpPr/>
          <p:nvPr/>
        </p:nvSpPr>
        <p:spPr>
          <a:xfrm>
            <a:off x="457200" y="2615184"/>
            <a:ext cx="109800" cy="530400"/>
          </a:xfrm>
          <a:prstGeom prst="rect">
            <a:avLst/>
          </a:prstGeom>
          <a:solidFill>
            <a:srgbClr val="2C5F7A"/>
          </a:solidFill>
          <a:ln cap="flat" cmpd="sng" w="12700">
            <a:solidFill>
              <a:srgbClr val="2C5F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32"/>
          <p:cNvSpPr/>
          <p:nvPr/>
        </p:nvSpPr>
        <p:spPr>
          <a:xfrm>
            <a:off x="685800" y="2697480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Apartment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3" name="Google Shape;423;p32"/>
          <p:cNvSpPr/>
          <p:nvPr/>
        </p:nvSpPr>
        <p:spPr>
          <a:xfrm>
            <a:off x="2560320" y="2697480"/>
            <a:ext cx="612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Subscribe to Census undcon5musa series</a:t>
            </a:r>
            <a:r>
              <a:rPr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 and review 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4Q-ahead labor forecast.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457200" y="3236976"/>
            <a:ext cx="82296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p32"/>
          <p:cNvSpPr/>
          <p:nvPr/>
        </p:nvSpPr>
        <p:spPr>
          <a:xfrm>
            <a:off x="457200" y="3236976"/>
            <a:ext cx="109800" cy="530400"/>
          </a:xfrm>
          <a:prstGeom prst="rect">
            <a:avLst/>
          </a:prstGeom>
          <a:solidFill>
            <a:srgbClr val="C4402F"/>
          </a:solidFill>
          <a:ln cap="flat" cmpd="sng" w="12700">
            <a:solidFill>
              <a:srgbClr val="C440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685800" y="3319272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Office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7" name="Google Shape;427;p32"/>
          <p:cNvSpPr/>
          <p:nvPr/>
        </p:nvSpPr>
        <p:spPr>
          <a:xfrm>
            <a:off x="2560320" y="3319272"/>
            <a:ext cx="612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Treat office as a reactive segment </a:t>
            </a:r>
            <a:r>
              <a:rPr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 no forward forecast is reliable. Plan capacity against incoming bids only.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8" name="Google Shape;428;p32"/>
          <p:cNvSpPr/>
          <p:nvPr/>
        </p:nvSpPr>
        <p:spPr>
          <a:xfrm>
            <a:off x="457200" y="3858768"/>
            <a:ext cx="82296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9" name="Google Shape;429;p32"/>
          <p:cNvSpPr/>
          <p:nvPr/>
        </p:nvSpPr>
        <p:spPr>
          <a:xfrm>
            <a:off x="457200" y="3858768"/>
            <a:ext cx="109800" cy="530400"/>
          </a:xfrm>
          <a:prstGeom prst="rect">
            <a:avLst/>
          </a:prstGeom>
          <a:solidFill>
            <a:srgbClr val="2D7D3F"/>
          </a:solidFill>
          <a:ln cap="flat" cmpd="sng" w="12700">
            <a:solidFill>
              <a:srgbClr val="2D7D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32"/>
          <p:cNvSpPr/>
          <p:nvPr/>
        </p:nvSpPr>
        <p:spPr>
          <a:xfrm>
            <a:off x="685800" y="3941064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Manufacturing</a:t>
            </a:r>
            <a:endParaRPr i="0" sz="13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32"/>
          <p:cNvSpPr/>
          <p:nvPr/>
        </p:nvSpPr>
        <p:spPr>
          <a:xfrm>
            <a:off x="2560320" y="3941064"/>
            <a:ext cx="612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Make PNFI the flagship macro indicator for Lithko's planning dashboard. 5Q ahead, 5% error</a:t>
            </a:r>
            <a:r>
              <a:rPr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the cleanest signal we </a:t>
            </a:r>
            <a:r>
              <a:rPr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got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2" name="Google Shape;432;p32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Next Steps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Concrete actions per sector, starting this quarter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3"/>
          <p:cNvSpPr/>
          <p:nvPr/>
        </p:nvSpPr>
        <p:spPr>
          <a:xfrm>
            <a:off x="685800" y="365550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C5D6"/>
              </a:buClr>
              <a:buSzPts val="1100"/>
              <a:buFont typeface="Calibri"/>
              <a:buNone/>
            </a:pPr>
            <a:r>
              <a:rPr i="0" lang="en" sz="12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University of </a:t>
            </a:r>
            <a:r>
              <a:rPr lang="en" sz="1200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Dayton </a:t>
            </a:r>
            <a:r>
              <a:rPr i="0" lang="en" sz="12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MBAN | Lithko Capstone</a:t>
            </a:r>
            <a:r>
              <a:rPr lang="en" sz="1200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 |</a:t>
            </a:r>
            <a:r>
              <a:rPr i="0" lang="en" sz="1200" u="none" cap="none" strike="noStrike">
                <a:solidFill>
                  <a:srgbClr val="B8C5D6"/>
                </a:solidFill>
                <a:latin typeface="Montserrat"/>
                <a:ea typeface="Montserrat"/>
                <a:cs typeface="Montserrat"/>
                <a:sym typeface="Montserrat"/>
              </a:rPr>
              <a:t>  April 2026</a:t>
            </a:r>
            <a:endParaRPr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8" name="Google Shape;43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50" y="4583950"/>
            <a:ext cx="1407125" cy="51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1369" y="40625"/>
            <a:ext cx="1365606" cy="5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3"/>
          <p:cNvSpPr/>
          <p:nvPr/>
        </p:nvSpPr>
        <p:spPr>
          <a:xfrm>
            <a:off x="457200" y="2011680"/>
            <a:ext cx="73200" cy="1097400"/>
          </a:xfrm>
          <a:prstGeom prst="rect">
            <a:avLst/>
          </a:prstGeom>
          <a:solidFill>
            <a:srgbClr val="E8743B"/>
          </a:solidFill>
          <a:ln cap="flat" cmpd="sng" w="12700">
            <a:solidFill>
              <a:srgbClr val="E874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3"/>
          <p:cNvSpPr/>
          <p:nvPr/>
        </p:nvSpPr>
        <p:spPr>
          <a:xfrm>
            <a:off x="685800" y="192024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8743B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3"/>
          <p:cNvSpPr/>
          <p:nvPr/>
        </p:nvSpPr>
        <p:spPr>
          <a:xfrm>
            <a:off x="685800" y="224028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 b="0" i="0" sz="4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4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Backup: Selected-Spec Regression Coefficients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summary() output for the 4 presented horizons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8" name="Google Shape;448;p34"/>
          <p:cNvSpPr/>
          <p:nvPr/>
        </p:nvSpPr>
        <p:spPr>
          <a:xfrm>
            <a:off x="457200" y="1005840"/>
            <a:ext cx="4023300" cy="17832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9" name="Google Shape;449;p34"/>
          <p:cNvSpPr txBox="1"/>
          <p:nvPr/>
        </p:nvSpPr>
        <p:spPr>
          <a:xfrm>
            <a:off x="594360" y="1051560"/>
            <a:ext cx="37491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DATA CENTER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34"/>
          <p:cNvSpPr txBox="1"/>
          <p:nvPr/>
        </p:nvSpPr>
        <p:spPr>
          <a:xfrm>
            <a:off x="594360" y="1280160"/>
            <a:ext cx="37491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 u="none" cap="none" strike="noStrike">
                <a:solidFill>
                  <a:srgbClr val="555C6F"/>
                </a:solidFill>
                <a:latin typeface="Montserrat"/>
                <a:ea typeface="Montserrat"/>
                <a:cs typeface="Montserrat"/>
                <a:sym typeface="Montserrat"/>
              </a:rPr>
              <a:t>5Q · DC capex + utility prod + TCU + PCE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1" name="Google Shape;451;p34"/>
          <p:cNvSpPr txBox="1"/>
          <p:nvPr/>
        </p:nvSpPr>
        <p:spPr>
          <a:xfrm>
            <a:off x="594360" y="1554480"/>
            <a:ext cx="37491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y_t = β₀ + β·hours_lag5 + γ·dc_full_lag5 + δ·COVID_t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2" name="Google Shape;452;p34"/>
          <p:cNvSpPr txBox="1"/>
          <p:nvPr/>
        </p:nvSpPr>
        <p:spPr>
          <a:xfrm>
            <a:off x="594360" y="1874519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Term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3" name="Google Shape;453;p34"/>
          <p:cNvSpPr txBox="1"/>
          <p:nvPr/>
        </p:nvSpPr>
        <p:spPr>
          <a:xfrm>
            <a:off x="1965960" y="1874519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Estimate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4" name="Google Shape;454;p34"/>
          <p:cNvSpPr txBox="1"/>
          <p:nvPr/>
        </p:nvSpPr>
        <p:spPr>
          <a:xfrm>
            <a:off x="2697480" y="1874519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Std. Err.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5" name="Google Shape;455;p34"/>
          <p:cNvSpPr txBox="1"/>
          <p:nvPr/>
        </p:nvSpPr>
        <p:spPr>
          <a:xfrm>
            <a:off x="3429000" y="1874519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p-value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34"/>
          <p:cNvSpPr txBox="1"/>
          <p:nvPr/>
        </p:nvSpPr>
        <p:spPr>
          <a:xfrm>
            <a:off x="594360" y="2075688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(Intercept)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34"/>
          <p:cNvSpPr txBox="1"/>
          <p:nvPr/>
        </p:nvSpPr>
        <p:spPr>
          <a:xfrm>
            <a:off x="1965960" y="2075688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−2.04e+06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34"/>
          <p:cNvSpPr txBox="1"/>
          <p:nvPr/>
        </p:nvSpPr>
        <p:spPr>
          <a:xfrm>
            <a:off x="2697480" y="2075688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9.63e+05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9" name="Google Shape;459;p34"/>
          <p:cNvSpPr txBox="1"/>
          <p:nvPr/>
        </p:nvSpPr>
        <p:spPr>
          <a:xfrm>
            <a:off x="3429000" y="2075688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0.060 .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0" name="Google Shape;460;p34"/>
          <p:cNvSpPr txBox="1"/>
          <p:nvPr/>
        </p:nvSpPr>
        <p:spPr>
          <a:xfrm>
            <a:off x="594360" y="2240280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labor_hours_lag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1" name="Google Shape;461;p34"/>
          <p:cNvSpPr txBox="1"/>
          <p:nvPr/>
        </p:nvSpPr>
        <p:spPr>
          <a:xfrm>
            <a:off x="1965960" y="2240280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−1.67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2" name="Google Shape;462;p34"/>
          <p:cNvSpPr txBox="1"/>
          <p:nvPr/>
        </p:nvSpPr>
        <p:spPr>
          <a:xfrm>
            <a:off x="2697480" y="2240280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1.75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34"/>
          <p:cNvSpPr txBox="1"/>
          <p:nvPr/>
        </p:nvSpPr>
        <p:spPr>
          <a:xfrm>
            <a:off x="3429000" y="2240280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0.361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4" name="Google Shape;464;p34"/>
          <p:cNvSpPr txBox="1"/>
          <p:nvPr/>
        </p:nvSpPr>
        <p:spPr>
          <a:xfrm>
            <a:off x="594360" y="2404872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dc_spending_lag5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5" name="Google Shape;465;p34"/>
          <p:cNvSpPr txBox="1"/>
          <p:nvPr/>
        </p:nvSpPr>
        <p:spPr>
          <a:xfrm>
            <a:off x="1965960" y="2404872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0.0008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34"/>
          <p:cNvSpPr txBox="1"/>
          <p:nvPr/>
        </p:nvSpPr>
        <p:spPr>
          <a:xfrm>
            <a:off x="2697480" y="2404872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0.0003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34"/>
          <p:cNvSpPr txBox="1"/>
          <p:nvPr/>
        </p:nvSpPr>
        <p:spPr>
          <a:xfrm>
            <a:off x="3429000" y="2404872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0.012 *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34"/>
          <p:cNvSpPr txBox="1"/>
          <p:nvPr/>
        </p:nvSpPr>
        <p:spPr>
          <a:xfrm>
            <a:off x="594360" y="2569464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COVID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34"/>
          <p:cNvSpPr txBox="1"/>
          <p:nvPr/>
        </p:nvSpPr>
        <p:spPr>
          <a:xfrm>
            <a:off x="1965960" y="2569464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4703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34"/>
          <p:cNvSpPr txBox="1"/>
          <p:nvPr/>
        </p:nvSpPr>
        <p:spPr>
          <a:xfrm>
            <a:off x="2697480" y="2569464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41484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34"/>
          <p:cNvSpPr txBox="1"/>
          <p:nvPr/>
        </p:nvSpPr>
        <p:spPr>
          <a:xfrm>
            <a:off x="3429000" y="2569464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0.912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2" name="Google Shape;472;p34"/>
          <p:cNvSpPr/>
          <p:nvPr/>
        </p:nvSpPr>
        <p:spPr>
          <a:xfrm>
            <a:off x="4663440" y="1005840"/>
            <a:ext cx="4023300" cy="17832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3" name="Google Shape;473;p34"/>
          <p:cNvSpPr txBox="1"/>
          <p:nvPr/>
        </p:nvSpPr>
        <p:spPr>
          <a:xfrm>
            <a:off x="4800600" y="1051560"/>
            <a:ext cx="37491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WAREHOUSE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34"/>
          <p:cNvSpPr txBox="1"/>
          <p:nvPr/>
        </p:nvSpPr>
        <p:spPr>
          <a:xfrm>
            <a:off x="4800600" y="1280160"/>
            <a:ext cx="37491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 u="none" cap="none" strike="noStrike">
                <a:solidFill>
                  <a:srgbClr val="555C6F"/>
                </a:solidFill>
                <a:latin typeface="Montserrat"/>
                <a:ea typeface="Montserrat"/>
                <a:cs typeface="Montserrat"/>
                <a:sym typeface="Montserrat"/>
              </a:rPr>
              <a:t>6Q · e-commerce + PNFI + warehouse + RCPIX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5" name="Google Shape;475;p34"/>
          <p:cNvSpPr txBox="1"/>
          <p:nvPr/>
        </p:nvSpPr>
        <p:spPr>
          <a:xfrm>
            <a:off x="4800600" y="1554480"/>
            <a:ext cx="37491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y_t = β₀ + β·hours_lag6 + γ·wh_full_lag6 + δ·COVID_t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6" name="Google Shape;476;p34"/>
          <p:cNvSpPr txBox="1"/>
          <p:nvPr/>
        </p:nvSpPr>
        <p:spPr>
          <a:xfrm>
            <a:off x="4800600" y="1874519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Term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7" name="Google Shape;477;p34"/>
          <p:cNvSpPr txBox="1"/>
          <p:nvPr/>
        </p:nvSpPr>
        <p:spPr>
          <a:xfrm>
            <a:off x="6172200" y="1874519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Estimate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8" name="Google Shape;478;p34"/>
          <p:cNvSpPr txBox="1"/>
          <p:nvPr/>
        </p:nvSpPr>
        <p:spPr>
          <a:xfrm>
            <a:off x="6903720" y="1874519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Std. Err.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34"/>
          <p:cNvSpPr txBox="1"/>
          <p:nvPr/>
        </p:nvSpPr>
        <p:spPr>
          <a:xfrm>
            <a:off x="7635240" y="1874519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p-value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0" name="Google Shape;480;p34"/>
          <p:cNvSpPr txBox="1"/>
          <p:nvPr/>
        </p:nvSpPr>
        <p:spPr>
          <a:xfrm>
            <a:off x="4800600" y="2075688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ecom_sales_lag6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1" name="Google Shape;481;p34"/>
          <p:cNvSpPr txBox="1"/>
          <p:nvPr/>
        </p:nvSpPr>
        <p:spPr>
          <a:xfrm>
            <a:off x="6172200" y="2075688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−3.27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2" name="Google Shape;482;p34"/>
          <p:cNvSpPr txBox="1"/>
          <p:nvPr/>
        </p:nvSpPr>
        <p:spPr>
          <a:xfrm>
            <a:off x="6903720" y="2075688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1.83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3" name="Google Shape;483;p34"/>
          <p:cNvSpPr txBox="1"/>
          <p:nvPr/>
        </p:nvSpPr>
        <p:spPr>
          <a:xfrm>
            <a:off x="7635240" y="2075688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0.102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4" name="Google Shape;484;p34"/>
          <p:cNvSpPr txBox="1"/>
          <p:nvPr/>
        </p:nvSpPr>
        <p:spPr>
          <a:xfrm>
            <a:off x="4800600" y="2240280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pnfi_lag6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5" name="Google Shape;485;p34"/>
          <p:cNvSpPr txBox="1"/>
          <p:nvPr/>
        </p:nvSpPr>
        <p:spPr>
          <a:xfrm>
            <a:off x="6172200" y="2240280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1730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6" name="Google Shape;486;p34"/>
          <p:cNvSpPr txBox="1"/>
          <p:nvPr/>
        </p:nvSpPr>
        <p:spPr>
          <a:xfrm>
            <a:off x="6903720" y="2240280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768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7" name="Google Shape;487;p34"/>
          <p:cNvSpPr txBox="1"/>
          <p:nvPr/>
        </p:nvSpPr>
        <p:spPr>
          <a:xfrm>
            <a:off x="7635240" y="2240280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0.046 *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8" name="Google Shape;488;p34"/>
          <p:cNvSpPr txBox="1"/>
          <p:nvPr/>
        </p:nvSpPr>
        <p:spPr>
          <a:xfrm>
            <a:off x="4800600" y="2404872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dgs10_lag6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9" name="Google Shape;489;p34"/>
          <p:cNvSpPr txBox="1"/>
          <p:nvPr/>
        </p:nvSpPr>
        <p:spPr>
          <a:xfrm>
            <a:off x="6172200" y="2404872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−264026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34"/>
          <p:cNvSpPr txBox="1"/>
          <p:nvPr/>
        </p:nvSpPr>
        <p:spPr>
          <a:xfrm>
            <a:off x="6903720" y="2404872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48064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1" name="Google Shape;491;p34"/>
          <p:cNvSpPr txBox="1"/>
          <p:nvPr/>
        </p:nvSpPr>
        <p:spPr>
          <a:xfrm>
            <a:off x="7635240" y="2404872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&lt;0.001 ***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2" name="Google Shape;492;p34"/>
          <p:cNvSpPr txBox="1"/>
          <p:nvPr/>
        </p:nvSpPr>
        <p:spPr>
          <a:xfrm>
            <a:off x="4800600" y="2569464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COVID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p34"/>
          <p:cNvSpPr txBox="1"/>
          <p:nvPr/>
        </p:nvSpPr>
        <p:spPr>
          <a:xfrm>
            <a:off x="6172200" y="2569464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−18245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4" name="Google Shape;494;p34"/>
          <p:cNvSpPr txBox="1"/>
          <p:nvPr/>
        </p:nvSpPr>
        <p:spPr>
          <a:xfrm>
            <a:off x="6903720" y="2569464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58046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5" name="Google Shape;495;p34"/>
          <p:cNvSpPr txBox="1"/>
          <p:nvPr/>
        </p:nvSpPr>
        <p:spPr>
          <a:xfrm>
            <a:off x="7635240" y="2569464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0.759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6" name="Google Shape;496;p34"/>
          <p:cNvSpPr/>
          <p:nvPr/>
        </p:nvSpPr>
        <p:spPr>
          <a:xfrm>
            <a:off x="457200" y="2926080"/>
            <a:ext cx="4023300" cy="17832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34"/>
          <p:cNvSpPr txBox="1"/>
          <p:nvPr/>
        </p:nvSpPr>
        <p:spPr>
          <a:xfrm>
            <a:off x="594360" y="2971800"/>
            <a:ext cx="37491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APARTMENT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34"/>
          <p:cNvSpPr txBox="1"/>
          <p:nvPr/>
        </p:nvSpPr>
        <p:spPr>
          <a:xfrm>
            <a:off x="594360" y="3200400"/>
            <a:ext cx="37491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 u="none" cap="none" strike="noStrike">
                <a:solidFill>
                  <a:srgbClr val="555C6F"/>
                </a:solidFill>
                <a:latin typeface="Montserrat"/>
                <a:ea typeface="Montserrat"/>
                <a:cs typeface="Montserrat"/>
                <a:sym typeface="Montserrat"/>
              </a:rPr>
              <a:t>4Q · undcon5musa (multifamily under-construction)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34"/>
          <p:cNvSpPr txBox="1"/>
          <p:nvPr/>
        </p:nvSpPr>
        <p:spPr>
          <a:xfrm>
            <a:off x="594360" y="3474720"/>
            <a:ext cx="37491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y_t = β₀ + β·hours_lag4 + γ·undcon5musa_lag4 + δ·COVID_t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594360" y="3794760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Term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34"/>
          <p:cNvSpPr txBox="1"/>
          <p:nvPr/>
        </p:nvSpPr>
        <p:spPr>
          <a:xfrm>
            <a:off x="1965960" y="3794760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Estimate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2" name="Google Shape;502;p34"/>
          <p:cNvSpPr txBox="1"/>
          <p:nvPr/>
        </p:nvSpPr>
        <p:spPr>
          <a:xfrm>
            <a:off x="2697480" y="3794760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Std. Err.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3" name="Google Shape;503;p34"/>
          <p:cNvSpPr txBox="1"/>
          <p:nvPr/>
        </p:nvSpPr>
        <p:spPr>
          <a:xfrm>
            <a:off x="3429000" y="3794760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p-value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4" name="Google Shape;504;p34"/>
          <p:cNvSpPr txBox="1"/>
          <p:nvPr/>
        </p:nvSpPr>
        <p:spPr>
          <a:xfrm>
            <a:off x="594360" y="3995928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(Intercept)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5" name="Google Shape;505;p34"/>
          <p:cNvSpPr txBox="1"/>
          <p:nvPr/>
        </p:nvSpPr>
        <p:spPr>
          <a:xfrm>
            <a:off x="1965960" y="3995928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973695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34"/>
          <p:cNvSpPr txBox="1"/>
          <p:nvPr/>
        </p:nvSpPr>
        <p:spPr>
          <a:xfrm>
            <a:off x="2697480" y="3995928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377126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7" name="Google Shape;507;p34"/>
          <p:cNvSpPr txBox="1"/>
          <p:nvPr/>
        </p:nvSpPr>
        <p:spPr>
          <a:xfrm>
            <a:off x="3429000" y="3995928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0.017 *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8" name="Google Shape;508;p34"/>
          <p:cNvSpPr txBox="1"/>
          <p:nvPr/>
        </p:nvSpPr>
        <p:spPr>
          <a:xfrm>
            <a:off x="594360" y="4160520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labor_hours_lag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9" name="Google Shape;509;p34"/>
          <p:cNvSpPr txBox="1"/>
          <p:nvPr/>
        </p:nvSpPr>
        <p:spPr>
          <a:xfrm>
            <a:off x="1965960" y="4160520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1.14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0" name="Google Shape;510;p34"/>
          <p:cNvSpPr txBox="1"/>
          <p:nvPr/>
        </p:nvSpPr>
        <p:spPr>
          <a:xfrm>
            <a:off x="2697480" y="4160520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0.315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1" name="Google Shape;511;p34"/>
          <p:cNvSpPr txBox="1"/>
          <p:nvPr/>
        </p:nvSpPr>
        <p:spPr>
          <a:xfrm>
            <a:off x="3429000" y="4160520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0.002 **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2" name="Google Shape;512;p34"/>
          <p:cNvSpPr txBox="1"/>
          <p:nvPr/>
        </p:nvSpPr>
        <p:spPr>
          <a:xfrm>
            <a:off x="594360" y="4325112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undcon5musa_lag4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3" name="Google Shape;513;p34"/>
          <p:cNvSpPr txBox="1"/>
          <p:nvPr/>
        </p:nvSpPr>
        <p:spPr>
          <a:xfrm>
            <a:off x="1965960" y="4325112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−1265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34"/>
          <p:cNvSpPr txBox="1"/>
          <p:nvPr/>
        </p:nvSpPr>
        <p:spPr>
          <a:xfrm>
            <a:off x="2697480" y="4325112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1137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5" name="Google Shape;515;p34"/>
          <p:cNvSpPr txBox="1"/>
          <p:nvPr/>
        </p:nvSpPr>
        <p:spPr>
          <a:xfrm>
            <a:off x="3429000" y="4325112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0.278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6" name="Google Shape;516;p34"/>
          <p:cNvSpPr txBox="1"/>
          <p:nvPr/>
        </p:nvSpPr>
        <p:spPr>
          <a:xfrm>
            <a:off x="594360" y="4489704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COVID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7" name="Google Shape;517;p34"/>
          <p:cNvSpPr txBox="1"/>
          <p:nvPr/>
        </p:nvSpPr>
        <p:spPr>
          <a:xfrm>
            <a:off x="1965960" y="4489704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−518511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8" name="Google Shape;518;p34"/>
          <p:cNvSpPr txBox="1"/>
          <p:nvPr/>
        </p:nvSpPr>
        <p:spPr>
          <a:xfrm>
            <a:off x="2697480" y="4489704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131935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34"/>
          <p:cNvSpPr txBox="1"/>
          <p:nvPr/>
        </p:nvSpPr>
        <p:spPr>
          <a:xfrm>
            <a:off x="3429000" y="4489704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&lt;0.001 ***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0" name="Google Shape;520;p34"/>
          <p:cNvSpPr/>
          <p:nvPr/>
        </p:nvSpPr>
        <p:spPr>
          <a:xfrm>
            <a:off x="4663440" y="2926080"/>
            <a:ext cx="4023300" cy="1783200"/>
          </a:xfrm>
          <a:prstGeom prst="rect">
            <a:avLst/>
          </a:prstGeom>
          <a:solidFill>
            <a:srgbClr val="F7F8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1" name="Google Shape;521;p34"/>
          <p:cNvSpPr txBox="1"/>
          <p:nvPr/>
        </p:nvSpPr>
        <p:spPr>
          <a:xfrm>
            <a:off x="4800600" y="2971800"/>
            <a:ext cx="37491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E2761"/>
                </a:solidFill>
                <a:latin typeface="Montserrat"/>
                <a:ea typeface="Montserrat"/>
                <a:cs typeface="Montserrat"/>
                <a:sym typeface="Montserrat"/>
              </a:rPr>
              <a:t>MANUFACTURING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34"/>
          <p:cNvSpPr txBox="1"/>
          <p:nvPr/>
        </p:nvSpPr>
        <p:spPr>
          <a:xfrm>
            <a:off x="4800600" y="3200400"/>
            <a:ext cx="37491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 u="none" cap="none" strike="noStrike">
                <a:solidFill>
                  <a:srgbClr val="555C6F"/>
                </a:solidFill>
                <a:latin typeface="Montserrat"/>
                <a:ea typeface="Montserrat"/>
                <a:cs typeface="Montserrat"/>
                <a:sym typeface="Montserrat"/>
              </a:rPr>
              <a:t>5Q · PNFI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3" name="Google Shape;523;p34"/>
          <p:cNvSpPr txBox="1"/>
          <p:nvPr/>
        </p:nvSpPr>
        <p:spPr>
          <a:xfrm>
            <a:off x="4800600" y="3474720"/>
            <a:ext cx="3749100" cy="1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y_t = β₀ + β·hours_lag5 + γ·pnfi_lag5 + δ·COVID_t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p34"/>
          <p:cNvSpPr txBox="1"/>
          <p:nvPr/>
        </p:nvSpPr>
        <p:spPr>
          <a:xfrm>
            <a:off x="4800600" y="3794760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Term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5" name="Google Shape;525;p34"/>
          <p:cNvSpPr txBox="1"/>
          <p:nvPr/>
        </p:nvSpPr>
        <p:spPr>
          <a:xfrm>
            <a:off x="6172200" y="3794760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Estimate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p34"/>
          <p:cNvSpPr txBox="1"/>
          <p:nvPr/>
        </p:nvSpPr>
        <p:spPr>
          <a:xfrm>
            <a:off x="6903720" y="3794760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Std. Err.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7" name="Google Shape;527;p34"/>
          <p:cNvSpPr txBox="1"/>
          <p:nvPr/>
        </p:nvSpPr>
        <p:spPr>
          <a:xfrm>
            <a:off x="7635240" y="3794760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 u="none" cap="none" strike="noStrike">
                <a:solidFill>
                  <a:srgbClr val="065A82"/>
                </a:solidFill>
                <a:latin typeface="Montserrat"/>
                <a:ea typeface="Montserrat"/>
                <a:cs typeface="Montserrat"/>
                <a:sym typeface="Montserrat"/>
              </a:rPr>
              <a:t>p-value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8" name="Google Shape;528;p34"/>
          <p:cNvSpPr txBox="1"/>
          <p:nvPr/>
        </p:nvSpPr>
        <p:spPr>
          <a:xfrm>
            <a:off x="4800600" y="3995928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(Intercept)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9" name="Google Shape;529;p34"/>
          <p:cNvSpPr txBox="1"/>
          <p:nvPr/>
        </p:nvSpPr>
        <p:spPr>
          <a:xfrm>
            <a:off x="6172200" y="3995928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−419167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34"/>
          <p:cNvSpPr txBox="1"/>
          <p:nvPr/>
        </p:nvSpPr>
        <p:spPr>
          <a:xfrm>
            <a:off x="6903720" y="3995928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89954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p34"/>
          <p:cNvSpPr txBox="1"/>
          <p:nvPr/>
        </p:nvSpPr>
        <p:spPr>
          <a:xfrm>
            <a:off x="7635240" y="3995928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&lt;0.001 ***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p34"/>
          <p:cNvSpPr txBox="1"/>
          <p:nvPr/>
        </p:nvSpPr>
        <p:spPr>
          <a:xfrm>
            <a:off x="4800600" y="4160520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labor_hours_lag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3" name="Google Shape;533;p34"/>
          <p:cNvSpPr txBox="1"/>
          <p:nvPr/>
        </p:nvSpPr>
        <p:spPr>
          <a:xfrm>
            <a:off x="6172200" y="4160520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−0.18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4" name="Google Shape;534;p34"/>
          <p:cNvSpPr txBox="1"/>
          <p:nvPr/>
        </p:nvSpPr>
        <p:spPr>
          <a:xfrm>
            <a:off x="6903720" y="4160520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0.341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5" name="Google Shape;535;p34"/>
          <p:cNvSpPr txBox="1"/>
          <p:nvPr/>
        </p:nvSpPr>
        <p:spPr>
          <a:xfrm>
            <a:off x="7635240" y="4160520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0.603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6" name="Google Shape;536;p34"/>
          <p:cNvSpPr txBox="1"/>
          <p:nvPr/>
        </p:nvSpPr>
        <p:spPr>
          <a:xfrm>
            <a:off x="4800600" y="4325112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pnfi_lag5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7" name="Google Shape;537;p34"/>
          <p:cNvSpPr txBox="1"/>
          <p:nvPr/>
        </p:nvSpPr>
        <p:spPr>
          <a:xfrm>
            <a:off x="6172200" y="4325112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177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8" name="Google Shape;538;p34"/>
          <p:cNvSpPr txBox="1"/>
          <p:nvPr/>
        </p:nvSpPr>
        <p:spPr>
          <a:xfrm>
            <a:off x="6903720" y="4325112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34.0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p34"/>
          <p:cNvSpPr txBox="1"/>
          <p:nvPr/>
        </p:nvSpPr>
        <p:spPr>
          <a:xfrm>
            <a:off x="7635240" y="4325112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&lt;0.001 ***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0" name="Google Shape;540;p34"/>
          <p:cNvSpPr txBox="1"/>
          <p:nvPr/>
        </p:nvSpPr>
        <p:spPr>
          <a:xfrm>
            <a:off x="4800600" y="4489704"/>
            <a:ext cx="13716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COVID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1" name="Google Shape;541;p34"/>
          <p:cNvSpPr txBox="1"/>
          <p:nvPr/>
        </p:nvSpPr>
        <p:spPr>
          <a:xfrm>
            <a:off x="6172200" y="4489704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−52925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2" name="Google Shape;542;p34"/>
          <p:cNvSpPr txBox="1"/>
          <p:nvPr/>
        </p:nvSpPr>
        <p:spPr>
          <a:xfrm>
            <a:off x="6903720" y="4489704"/>
            <a:ext cx="731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24037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p34"/>
          <p:cNvSpPr txBox="1"/>
          <p:nvPr/>
        </p:nvSpPr>
        <p:spPr>
          <a:xfrm>
            <a:off x="7635240" y="4489704"/>
            <a:ext cx="914400" cy="1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900" u="none" cap="none" strike="noStrike">
                <a:solidFill>
                  <a:srgbClr val="333640"/>
                </a:solidFill>
                <a:latin typeface="Montserrat"/>
                <a:ea typeface="Montserrat"/>
                <a:cs typeface="Montserrat"/>
                <a:sym typeface="Montserrat"/>
              </a:rPr>
              <a:t>0.040 *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4" name="Google Shape;544;p34"/>
          <p:cNvSpPr txBox="1"/>
          <p:nvPr/>
        </p:nvSpPr>
        <p:spPr>
          <a:xfrm>
            <a:off x="457200" y="4754880"/>
            <a:ext cx="8229600" cy="1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00" u="none" cap="none" strike="noStrike">
                <a:solidFill>
                  <a:srgbClr val="555C6F"/>
                </a:solidFill>
                <a:latin typeface="Montserrat"/>
                <a:ea typeface="Montserrat"/>
                <a:cs typeface="Montserrat"/>
                <a:sym typeface="Montserrat"/>
              </a:rPr>
              <a:t>Significance codes: *** p&lt;0.001  **  p&lt;0.01  *  p&lt;0.05    ·    Source: U-SUMMARY chunk in HTML appendix.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9" name="Google Shape;549;p35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{26971416-42D1-4412-B253-2766C2BD549C}</a:tableStyleId>
              </a:tblPr>
              <a:tblGrid>
                <a:gridCol w="1463050"/>
                <a:gridCol w="822950"/>
                <a:gridCol w="1005850"/>
                <a:gridCol w="1554475"/>
                <a:gridCol w="1097275"/>
                <a:gridCol w="1097275"/>
                <a:gridCol w="11887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Sector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Horizon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AR(1) lag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Key indicator lag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COVID dummy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Seasonality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R²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 Center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5Q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positive***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dc_spending**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negative***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sig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0.84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Warehouse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6Q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positive**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ecom_sales*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negative**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sig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0.71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Apartment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4Q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positive***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undcon5musa***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negative**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sig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0.78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Office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positive**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none significant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negative*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sig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–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Manufacturing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5Q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positive***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pnfi***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negative**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sig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0.89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50" name="Google Shape;550;p35"/>
          <p:cNvSpPr/>
          <p:nvPr/>
        </p:nvSpPr>
        <p:spPr>
          <a:xfrm>
            <a:off x="457200" y="411480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1" i="1" lang="en" sz="10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Significance codes:</a:t>
            </a:r>
            <a:r>
              <a:rPr i="1" lang="en" sz="10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 *** p &lt; 0.001   **  p &lt; 0.01   *   p &lt; 0.05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1" name="Google Shape;551;p35"/>
          <p:cNvSpPr/>
          <p:nvPr/>
        </p:nvSpPr>
        <p:spPr>
          <a:xfrm>
            <a:off x="457200" y="438912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1" lang="en" sz="10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Full regression tables (all 120 models × all coefficients) are available in the HTML appendix.</a:t>
            </a:r>
            <a:endParaRPr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2" name="Google Shape;552;p35"/>
          <p:cNvSpPr/>
          <p:nvPr/>
        </p:nvSpPr>
        <p:spPr>
          <a:xfrm>
            <a:off x="457200" y="48006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Lithko Capstone   |   Team UD   |   April 2026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3" name="Google Shape;553;p35"/>
          <p:cNvSpPr/>
          <p:nvPr/>
        </p:nvSpPr>
        <p:spPr>
          <a:xfrm>
            <a:off x="7772400" y="48006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i="0" lang="en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20 / 26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4" name="Google Shape;554;p35"/>
          <p:cNvSpPr/>
          <p:nvPr/>
        </p:nvSpPr>
        <p:spPr>
          <a:xfrm>
            <a:off x="0" y="-10075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Backup: Full Regression Output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Sector-level coefficients at the picked horizon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59" name="Google Shape;559;p36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{26971416-42D1-4412-B253-2766C2BD549C}</a:tableStyleId>
              </a:tblPr>
              <a:tblGrid>
                <a:gridCol w="1920250"/>
                <a:gridCol w="1371600"/>
                <a:gridCol w="914400"/>
                <a:gridCol w="1188725"/>
                <a:gridCol w="1188725"/>
                <a:gridCol w="164592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Variant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Outlier rule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Horizon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Lift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v3 baseline (deck)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|z| &gt; 2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6Q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39.7%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21.2%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D7D3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2D7D3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KEPT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v4 candidate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|z| &gt; 1.5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6Q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87.1%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200"/>
                        <a:buFont typeface="Calibri"/>
                        <a:buNone/>
                      </a:pPr>
                      <a:r>
                        <a:rPr lang="en" sz="12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2.6%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02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" sz="1200" u="none" cap="none" strike="noStrike">
                          <a:solidFill>
                            <a:srgbClr val="C4402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REJECTED</a:t>
                      </a:r>
                      <a:endParaRPr sz="12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60" name="Google Shape;560;p36"/>
          <p:cNvSpPr/>
          <p:nvPr/>
        </p:nvSpPr>
        <p:spPr>
          <a:xfrm>
            <a:off x="457200" y="2743200"/>
            <a:ext cx="8229600" cy="1554600"/>
          </a:xfrm>
          <a:prstGeom prst="rect">
            <a:avLst/>
          </a:prstGeom>
          <a:solidFill>
            <a:srgbClr val="FAE5E2"/>
          </a:solidFill>
          <a:ln cap="flat" cmpd="sng" w="12700">
            <a:solidFill>
              <a:srgbClr val="C440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36"/>
          <p:cNvSpPr/>
          <p:nvPr/>
        </p:nvSpPr>
        <p:spPr>
          <a:xfrm>
            <a:off x="640080" y="2880360"/>
            <a:ext cx="7863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4402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C4402F"/>
                </a:solidFill>
                <a:latin typeface="Calibri"/>
                <a:ea typeface="Calibri"/>
                <a:cs typeface="Calibri"/>
                <a:sym typeface="Calibri"/>
              </a:rPr>
              <a:t>WHY REJECTED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6"/>
          <p:cNvSpPr/>
          <p:nvPr/>
        </p:nvSpPr>
        <p:spPr>
          <a:xfrm>
            <a:off x="640080" y="3154680"/>
            <a:ext cx="78639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Montserrat"/>
              <a:buChar char="•"/>
            </a:pP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The tighter |z| &gt; 1.5 rule removes 2022 Q4 and 2023 Q3 from the training + test data.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Montserrat"/>
              <a:buChar char="•"/>
            </a:pP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These are NOT 2020 COVID shocks </a:t>
            </a:r>
            <a:r>
              <a:rPr lang="en" sz="1100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–</a:t>
            </a: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 they're recent business-cycle quarters.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Montserrat"/>
              <a:buChar char="•"/>
            </a:pP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Both quarters would have been in the 6Q test window. Removing them inflates test accuracy.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Montserrat"/>
              <a:buChar char="•"/>
            </a:pP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The "87.1% lift" is therefore an artifact of data selection, not a genuine forecast improvement.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36"/>
          <p:cNvSpPr/>
          <p:nvPr/>
        </p:nvSpPr>
        <p:spPr>
          <a:xfrm>
            <a:off x="457200" y="48006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Lithko Capstone   |   Team UD   |   April 2026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6"/>
          <p:cNvSpPr/>
          <p:nvPr/>
        </p:nvSpPr>
        <p:spPr>
          <a:xfrm>
            <a:off x="7772400" y="48006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22 / 26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6"/>
          <p:cNvSpPr/>
          <p:nvPr/>
        </p:nvSpPr>
        <p:spPr>
          <a:xfrm>
            <a:off x="-5100" y="0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Backup: Warehouse Boost Experiment (Rejected)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Why we did NOT put the v4 "87.1% lift" result on the deck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70" name="Google Shape;570;p37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{26971416-42D1-4412-B253-2766C2BD549C}</a:tableStyleId>
              </a:tblPr>
              <a:tblGrid>
                <a:gridCol w="3200400"/>
                <a:gridCol w="1828800"/>
                <a:gridCol w="1371600"/>
                <a:gridCol w="1828800"/>
              </a:tblGrid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Enhancement combo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Best horizon tried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Best MAPE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Passes 30%?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332"/>
                    </a:solidFill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Base (v3 standard)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3Q</a:t>
                      </a:r>
                      <a:r>
                        <a:rPr lang="en" sz="1100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- </a:t>
                      </a: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6Q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34%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02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C4402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Post-2020 shift dummy only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3Q</a:t>
                      </a:r>
                      <a:r>
                        <a:rPr lang="en" sz="1100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- </a:t>
                      </a: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6Q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32%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02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C4402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Log transform only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3Q</a:t>
                      </a:r>
                      <a:r>
                        <a:rPr lang="en" sz="1100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- </a:t>
                      </a: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6Q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36%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02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C4402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1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Shift dummy + log transform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3Q</a:t>
                      </a:r>
                      <a:r>
                        <a:rPr lang="en" sz="1100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- </a:t>
                      </a: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6Q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2332"/>
                        </a:buClr>
                        <a:buSzPts val="1100"/>
                        <a:buFont typeface="Calibri"/>
                        <a:buNone/>
                      </a:pPr>
                      <a:r>
                        <a:rPr lang="en" sz="1100" u="none" cap="none" strike="noStrike">
                          <a:solidFill>
                            <a:srgbClr val="1A2332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33%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4402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" sz="1100" u="none" cap="none" strike="noStrike">
                          <a:solidFill>
                            <a:srgbClr val="C4402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</a:t>
                      </a:r>
                      <a:endParaRPr sz="1100" u="none" cap="none" strike="noStrike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71" name="Google Shape;571;p37"/>
          <p:cNvSpPr/>
          <p:nvPr/>
        </p:nvSpPr>
        <p:spPr>
          <a:xfrm>
            <a:off x="457200" y="3474720"/>
            <a:ext cx="8229600" cy="1097400"/>
          </a:xfrm>
          <a:prstGeom prst="rect">
            <a:avLst/>
          </a:prstGeom>
          <a:solidFill>
            <a:srgbClr val="F1F4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37"/>
          <p:cNvSpPr/>
          <p:nvPr/>
        </p:nvSpPr>
        <p:spPr>
          <a:xfrm>
            <a:off x="640080" y="3584448"/>
            <a:ext cx="7863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43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000" u="none" cap="none" strike="noStrike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7"/>
          <p:cNvSpPr/>
          <p:nvPr/>
        </p:nvSpPr>
        <p:spPr>
          <a:xfrm>
            <a:off x="640080" y="3822192"/>
            <a:ext cx="78639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No combo clears the 30% MAPE threshold at any 3Q–6Q horizon. Office's no-signal finding is robust across four enhancement specifications — not a narrow negative.</a:t>
            </a:r>
            <a:endParaRPr i="0" sz="11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4" name="Google Shape;574;p37"/>
          <p:cNvSpPr/>
          <p:nvPr/>
        </p:nvSpPr>
        <p:spPr>
          <a:xfrm>
            <a:off x="457200" y="480060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Lithko Capstone   |   Team UD   |   April 2026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7"/>
          <p:cNvSpPr/>
          <p:nvPr/>
        </p:nvSpPr>
        <p:spPr>
          <a:xfrm>
            <a:off x="7772400" y="480060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23 / 26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7"/>
          <p:cNvSpPr/>
          <p:nvPr/>
        </p:nvSpPr>
        <p:spPr>
          <a:xfrm>
            <a:off x="-5100" y="0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Backup: Office Enhancement Experiments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Post-2020 shift dummy + log transform - did they rescue the Office signal?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8"/>
          <p:cNvSpPr/>
          <p:nvPr/>
        </p:nvSpPr>
        <p:spPr>
          <a:xfrm>
            <a:off x="457200" y="1371600"/>
            <a:ext cx="82296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2" name="Google Shape;582;p38"/>
          <p:cNvSpPr/>
          <p:nvPr/>
        </p:nvSpPr>
        <p:spPr>
          <a:xfrm>
            <a:off x="640080" y="1463177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i="0" lang="en" sz="9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Lithko Internal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3" name="Google Shape;583;p38"/>
          <p:cNvSpPr/>
          <p:nvPr/>
        </p:nvSpPr>
        <p:spPr>
          <a:xfrm>
            <a:off x="2926080" y="1444752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1050"/>
              <a:buFont typeface="Calibri"/>
              <a:buNone/>
            </a:pPr>
            <a:r>
              <a:rPr i="1" lang="en" sz="950" u="none" cap="none" strike="noStrike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Internal databases (2019</a:t>
            </a:r>
            <a:r>
              <a:rPr i="1" lang="en" sz="950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i="1" lang="en" sz="950" u="none" cap="none" strike="noStrike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2025)</a:t>
            </a:r>
            <a:endParaRPr i="0" sz="95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38"/>
          <p:cNvSpPr/>
          <p:nvPr/>
        </p:nvSpPr>
        <p:spPr>
          <a:xfrm>
            <a:off x="5349240" y="1444752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v_d_job_1, v_f_labor_hours, v_d_customer, v_d_business_unit, v_d_region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5" name="Google Shape;585;p38"/>
          <p:cNvSpPr/>
          <p:nvPr/>
        </p:nvSpPr>
        <p:spPr>
          <a:xfrm>
            <a:off x="457200" y="1993392"/>
            <a:ext cx="8229600" cy="530400"/>
          </a:xfrm>
          <a:prstGeom prst="rect">
            <a:avLst/>
          </a:prstGeom>
          <a:solidFill>
            <a:srgbClr val="F1F4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6" name="Google Shape;586;p38"/>
          <p:cNvSpPr/>
          <p:nvPr/>
        </p:nvSpPr>
        <p:spPr>
          <a:xfrm>
            <a:off x="640080" y="2066544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i="0" lang="en" sz="9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Federal Reserve (FRED)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7" name="Google Shape;587;p38"/>
          <p:cNvSpPr/>
          <p:nvPr/>
        </p:nvSpPr>
        <p:spPr>
          <a:xfrm>
            <a:off x="2926080" y="2066544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1050"/>
              <a:buFont typeface="Calibri"/>
              <a:buNone/>
            </a:pPr>
            <a:r>
              <a:rPr i="1" lang="en" sz="950" u="none" cap="none" strike="noStrike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research.stlouisfed.org/fred</a:t>
            </a:r>
            <a:endParaRPr i="0" sz="95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8" name="Google Shape;588;p38"/>
          <p:cNvSpPr/>
          <p:nvPr/>
        </p:nvSpPr>
        <p:spPr>
          <a:xfrm>
            <a:off x="5349240" y="2075732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Private </a:t>
            </a:r>
            <a:r>
              <a:rPr lang="en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nonresidential</a:t>
            </a:r>
            <a:r>
              <a:rPr lang="en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fixed </a:t>
            </a:r>
            <a:r>
              <a:rPr lang="en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Investment</a:t>
            </a:r>
            <a:r>
              <a:rPr lang="en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i="0" lang="en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PNFI), </a:t>
            </a:r>
            <a:r>
              <a:rPr lang="en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personal </a:t>
            </a:r>
            <a:r>
              <a:rPr lang="en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consumption</a:t>
            </a:r>
            <a:r>
              <a:rPr lang="en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 Expenditure(</a:t>
            </a:r>
            <a:r>
              <a:rPr i="0" lang="en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PCE deflator), T</a:t>
            </a:r>
            <a:r>
              <a:rPr lang="en" sz="900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otal capacity utilization(</a:t>
            </a:r>
            <a:r>
              <a:rPr i="0" lang="en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TCU), utility production, mortgage rate, ISM PMI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9" name="Google Shape;589;p38"/>
          <p:cNvSpPr/>
          <p:nvPr/>
        </p:nvSpPr>
        <p:spPr>
          <a:xfrm>
            <a:off x="457200" y="2615184"/>
            <a:ext cx="82296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0" name="Google Shape;590;p38"/>
          <p:cNvSpPr/>
          <p:nvPr/>
        </p:nvSpPr>
        <p:spPr>
          <a:xfrm>
            <a:off x="640080" y="2688336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i="0" lang="en" sz="9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U.S. Census Bureau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38"/>
          <p:cNvSpPr/>
          <p:nvPr/>
        </p:nvSpPr>
        <p:spPr>
          <a:xfrm>
            <a:off x="2926080" y="2688336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1050"/>
              <a:buFont typeface="Calibri"/>
              <a:buNone/>
            </a:pPr>
            <a:r>
              <a:rPr i="1" lang="en" sz="950" u="none" cap="none" strike="noStrike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census.gov/construction</a:t>
            </a:r>
            <a:endParaRPr i="0" sz="95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2" name="Google Shape;592;p38"/>
          <p:cNvSpPr/>
          <p:nvPr/>
        </p:nvSpPr>
        <p:spPr>
          <a:xfrm>
            <a:off x="5349240" y="2688336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undcon5musa (multi-family units under construction), housing starts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3" name="Google Shape;593;p38"/>
          <p:cNvSpPr/>
          <p:nvPr/>
        </p:nvSpPr>
        <p:spPr>
          <a:xfrm>
            <a:off x="457200" y="3236976"/>
            <a:ext cx="8229600" cy="530400"/>
          </a:xfrm>
          <a:prstGeom prst="rect">
            <a:avLst/>
          </a:prstGeom>
          <a:solidFill>
            <a:srgbClr val="F1F4F8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4" name="Google Shape;594;p38"/>
          <p:cNvSpPr/>
          <p:nvPr/>
        </p:nvSpPr>
        <p:spPr>
          <a:xfrm>
            <a:off x="640080" y="3310128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i="0" lang="en" sz="9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Construction Spending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5" name="Google Shape;595;p38"/>
          <p:cNvSpPr/>
          <p:nvPr/>
        </p:nvSpPr>
        <p:spPr>
          <a:xfrm>
            <a:off x="2926080" y="3310128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1050"/>
              <a:buFont typeface="Calibri"/>
              <a:buNone/>
            </a:pPr>
            <a:r>
              <a:rPr i="1" lang="en" sz="950" u="none" cap="none" strike="noStrike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census.gov/construction-spending</a:t>
            </a:r>
            <a:endParaRPr i="0" sz="95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6" name="Google Shape;596;p38"/>
          <p:cNvSpPr/>
          <p:nvPr/>
        </p:nvSpPr>
        <p:spPr>
          <a:xfrm>
            <a:off x="5349240" y="3310128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DC spending, warehouse spending, office spending, manufacturing spending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7" name="Google Shape;597;p38"/>
          <p:cNvSpPr/>
          <p:nvPr/>
        </p:nvSpPr>
        <p:spPr>
          <a:xfrm>
            <a:off x="457200" y="3858768"/>
            <a:ext cx="8229600" cy="530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8" name="Google Shape;598;p38"/>
          <p:cNvSpPr/>
          <p:nvPr/>
        </p:nvSpPr>
        <p:spPr>
          <a:xfrm>
            <a:off x="640080" y="3931920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32"/>
              </a:buClr>
              <a:buSzPts val="1100"/>
              <a:buFont typeface="Calibri"/>
              <a:buNone/>
            </a:pPr>
            <a:r>
              <a:rPr b="1" i="0" lang="en" sz="900" u="none" cap="none" strike="noStrike">
                <a:solidFill>
                  <a:srgbClr val="1A2332"/>
                </a:solidFill>
                <a:latin typeface="Montserrat"/>
                <a:ea typeface="Montserrat"/>
                <a:cs typeface="Montserrat"/>
                <a:sym typeface="Montserrat"/>
              </a:rPr>
              <a:t>E-commerce &amp; Industry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9" name="Google Shape;599;p38"/>
          <p:cNvSpPr/>
          <p:nvPr/>
        </p:nvSpPr>
        <p:spPr>
          <a:xfrm>
            <a:off x="2926080" y="3931920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5F7A"/>
              </a:buClr>
              <a:buSzPts val="1050"/>
              <a:buFont typeface="Calibri"/>
              <a:buNone/>
            </a:pPr>
            <a:r>
              <a:rPr i="1" lang="en" sz="950" u="none" cap="none" strike="noStrike">
                <a:solidFill>
                  <a:srgbClr val="2C5F7A"/>
                </a:solidFill>
                <a:latin typeface="Montserrat"/>
                <a:ea typeface="Montserrat"/>
                <a:cs typeface="Montserrat"/>
                <a:sym typeface="Montserrat"/>
              </a:rPr>
              <a:t>census.gov/retail</a:t>
            </a:r>
            <a:endParaRPr i="0" sz="95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0" name="Google Shape;600;p38"/>
          <p:cNvSpPr/>
          <p:nvPr/>
        </p:nvSpPr>
        <p:spPr>
          <a:xfrm>
            <a:off x="5349240" y="3931920"/>
            <a:ext cx="3291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i="0" lang="en" sz="900" u="none" cap="none" strike="noStrike">
                <a:solidFill>
                  <a:srgbClr val="64748B"/>
                </a:solidFill>
                <a:latin typeface="Montserrat"/>
                <a:ea typeface="Montserrat"/>
                <a:cs typeface="Montserrat"/>
                <a:sym typeface="Montserrat"/>
              </a:rPr>
              <a:t>E-commerce retail sales, industrial production index</a:t>
            </a:r>
            <a:endParaRPr i="0" sz="9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1" name="Google Shape;601;p38"/>
          <p:cNvSpPr/>
          <p:nvPr/>
        </p:nvSpPr>
        <p:spPr>
          <a:xfrm>
            <a:off x="-5100" y="0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Backup: Data Sources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Every indicator is publicly available &amp; fully reproducible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2" name="Google Shape;602;p38"/>
          <p:cNvSpPr txBox="1"/>
          <p:nvPr/>
        </p:nvSpPr>
        <p:spPr>
          <a:xfrm>
            <a:off x="6806375" y="4713200"/>
            <a:ext cx="203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action="ppaction://hlinksldjump" r:id="rId3"/>
              </a:rPr>
              <a:t>Back - Data Foundation Slide</a:t>
            </a:r>
            <a:endParaRPr i="1"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9"/>
          <p:cNvSpPr/>
          <p:nvPr/>
        </p:nvSpPr>
        <p:spPr>
          <a:xfrm>
            <a:off x="-5100" y="0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Backup: Data Sources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Every indicator is publicly available – fully reproducible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8" name="Google Shape;608;p39"/>
          <p:cNvSpPr txBox="1"/>
          <p:nvPr/>
        </p:nvSpPr>
        <p:spPr>
          <a:xfrm>
            <a:off x="6806375" y="4713200"/>
            <a:ext cx="203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action="ppaction://hlinksldjump" r:id="rId3"/>
              </a:rPr>
              <a:t>Back - Data Foundation Slide</a:t>
            </a:r>
            <a:endParaRPr i="1"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09" name="Google Shape;609;p39"/>
          <p:cNvGraphicFramePr/>
          <p:nvPr/>
        </p:nvGraphicFramePr>
        <p:xfrm>
          <a:off x="952500" y="90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{5A102B6E-DDDC-4D8A-BC66-E00E17C231BE}</a:tableStyleId>
              </a:tblPr>
              <a:tblGrid>
                <a:gridCol w="1562425"/>
                <a:gridCol w="3263575"/>
                <a:gridCol w="2413000"/>
              </a:tblGrid>
              <a:tr h="13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 Type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Indicators Used with Full Forms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Why Related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 Center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DC CapEx / DC Spending = Data Center Capital Expenditure / Data Center Spending; PCE Deflator = Personal Consumption Expenditures Price Deflator; TCU = Total Capacity Utilization; Utility Production = Electric and Gas Utility Production Index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Data centers are tied to construction investment, inflation/cost pressure, capacity needs, and power demand.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Warehouse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E-Commerce Sales = U.S. E-Commerce Retail Sales; PNFI = Private Nonresidential Fixed Investment; TLNRESCONS = Total Nonresidential Construction Spending; INDPRO = Industrial Production Index; DGS10 = 10-Year Treasury Constant Maturity Rate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Warehouses are tied to online retail, business investment, commercial construction, goods production, and financing costs.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Apartment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PERMIT5 = Building Permits for 5+ Unit Housing; DGS10 = 10-Year Treasury Constant Maturity Rate; UNDCON5MUSA = 5+ Unit Housing Under Construction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Apartments are tied to multifamily construction pipeline, active construction workload, and financing cost.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0"/>
          <p:cNvSpPr/>
          <p:nvPr/>
        </p:nvSpPr>
        <p:spPr>
          <a:xfrm>
            <a:off x="-5100" y="0"/>
            <a:ext cx="9154200" cy="7935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Backup: Data Sources</a:t>
            </a:r>
            <a:endParaRPr b="1" sz="20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i="1" lang="en" sz="11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Every indicator is publicly available – fully reproducible</a:t>
            </a:r>
            <a:endParaRPr i="1" sz="1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5" name="Google Shape;615;p40"/>
          <p:cNvSpPr txBox="1"/>
          <p:nvPr/>
        </p:nvSpPr>
        <p:spPr>
          <a:xfrm>
            <a:off x="6806375" y="4713200"/>
            <a:ext cx="2030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hlink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action="ppaction://hlinksldjump" r:id="rId3"/>
              </a:rPr>
              <a:t>Back - Data Foundation Slide</a:t>
            </a:r>
            <a:endParaRPr i="1"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616" name="Google Shape;616;p40"/>
          <p:cNvGraphicFramePr/>
          <p:nvPr/>
        </p:nvGraphicFramePr>
        <p:xfrm>
          <a:off x="952500" y="90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{5A102B6E-DDDC-4D8A-BC66-E00E17C231BE}</a:tableStyleId>
              </a:tblPr>
              <a:tblGrid>
                <a:gridCol w="1562425"/>
                <a:gridCol w="3263575"/>
                <a:gridCol w="2413000"/>
              </a:tblGrid>
              <a:tr h="138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Project Type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Indicators Used with Full Forms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lt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Why Related</a:t>
                      </a:r>
                      <a:endParaRPr b="1" sz="1200">
                        <a:solidFill>
                          <a:schemeClr val="lt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C5F7A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Office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USPBS = Office/Business Services Price or Market Indicator (confirm exact label); TLNRESCONS = Total Nonresidential Construction Spending; DGS10 = 10-Year Treasury Constant Maturity Rate; PNFI = Private Nonresidential Fixed Investment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Office is tied to commercial construction, business investment, financing conditions, and office-related market/cost pressure.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Manufacturing</a:t>
                      </a:r>
                      <a:endParaRPr b="1"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INDPRO = Industrial Production Index; TCU = Total Capacity Utilization; DGS10 = 10-Year Treasury Constant Maturity Rate; PNFI = Private Nonresidential Fixed Investment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Manufacturing is tied to production output, capacity pressure, private investment, and financing cost.</a:t>
                      </a:r>
                      <a:endParaRPr sz="11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